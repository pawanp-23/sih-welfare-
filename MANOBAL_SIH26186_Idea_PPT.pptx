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22.png"/><Relationship Id="rId13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hyperlink" Target="https://aninews.in/news/national/general-news/730-suicides-amongst-capfs-nsg-and-assam-rifles-during-the-last-five-years-nityanand-rai20241204183618/" TargetMode="External"/><Relationship Id="rId6" Type="http://schemas.openxmlformats.org/officeDocument/2006/relationships/hyperlink" Target="https://www.deccanherald.com/india/mha-creates-taskforce-to-prevent-suicides-by-central-armed-police-forces-troops-1056571.html" TargetMode="External"/><Relationship Id="rId7" Type="http://schemas.openxmlformats.org/officeDocument/2006/relationships/hyperlink" Target="https://www.meity.gov.in/data-protection-framework" TargetMode="External"/><Relationship Id="rId8" Type="http://schemas.openxmlformats.org/officeDocument/2006/relationships/image" Target="../media/image43.png"/><Relationship Id="rId9" Type="http://schemas.openxmlformats.org/officeDocument/2006/relationships/hyperlink" Target="https://pubmed.ncbi.nlm.nih.gov/11556941/" TargetMode="External"/><Relationship Id="rId10" Type="http://schemas.openxmlformats.org/officeDocument/2006/relationships/hyperlink" Target="https://www.who.int/news/item/28-05-2019-burn-out-an-occupational-phenomenon-international-classification-of-diseases" TargetMode="External"/><Relationship Id="rId11" Type="http://schemas.openxmlformats.org/officeDocument/2006/relationships/hyperlink" Target="https://telemanas.mohfw.gov.in/" TargetMode="External"/><Relationship Id="rId12" Type="http://schemas.openxmlformats.org/officeDocument/2006/relationships/image" Target="../media/image44.png"/><Relationship Id="rId13" Type="http://schemas.openxmlformats.org/officeDocument/2006/relationships/hyperlink" Target="https://dl.acm.org/doi/10.1145/3242969.3242985" TargetMode="External"/><Relationship Id="rId14" Type="http://schemas.openxmlformats.org/officeDocument/2006/relationships/hyperlink" Target="https://arxiv.org/abs/1705.07874" TargetMode="External"/><Relationship Id="rId15" Type="http://schemas.openxmlformats.org/officeDocument/2006/relationships/hyperlink" Target="https://arxiv.org/abs/1603.02754" TargetMode="External"/><Relationship Id="rId16" Type="http://schemas.openxmlformats.org/officeDocument/2006/relationships/image" Target="../media/image30.png"/><Relationship Id="rId17" Type="http://schemas.openxmlformats.org/officeDocument/2006/relationships/hyperlink" Target="https://huggingface.co/ai4bharat" TargetMode="External"/><Relationship Id="rId18" Type="http://schemas.openxmlformats.org/officeDocument/2006/relationships/hyperlink" Target="https://cloud.gov.in/" TargetMode="External"/><Relationship Id="rId19" Type="http://schemas.openxmlformats.org/officeDocument/2006/relationships/hyperlink" Target="https://developer.android.com/health-and-fitness/guides/health-conn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SIH26186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7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Predictive Personnel Stress and Welfare Monitoring System for Uniformed Forces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________</a:t>
            </a: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200" b="0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MANOBAL – AI Welfare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6903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1">
                <a:solidFill>
                  <a:srgbClr val="0E7C7B"/>
                </a:solidFill>
                <a:latin typeface="Calibri"/>
              </a:rPr>
              <a:t>Predictive Stress &amp; Burnout Monitoring for Uniformed Forces  •  welfare-first  •  privacy-first  •  explainable</a:t>
            </a:r>
          </a:p>
        </p:txBody>
      </p:sp>
      <p:sp>
        <p:nvSpPr>
          <p:cNvPr id="15363" name="Oval 15362"/>
          <p:cNvSpPr/>
          <p:nvPr/>
        </p:nvSpPr>
        <p:spPr>
          <a:xfrm>
            <a:off x="365760" y="1481328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targe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72768"/>
            <a:ext cx="182880" cy="182880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822960" y="1481328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1911095"/>
            <a:ext cx="68122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MANOBAL (मनोबल = morale) is a privacy-first AI platform that fuses HRMS signals (leave patterns, deployment history, duty hours, transfer frequency), voluntary self-assessments (PHQ-9 / GAD-7 / PSS-10 + 2-minute mood check-ins) and opt-in wearable data into one explainable Stress &amp; Burnout Risk Index — and converts it into welfare actions, never disciplinary flags.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365760" y="2724912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8" name="Picture 15367" descr="lightbulb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16352"/>
            <a:ext cx="182880" cy="182880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822960" y="2724912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80" y="3154679"/>
            <a:ext cx="68122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Replaces manual observation &amp; self-reporting with continuous early-warning analytics — rising risk trends are flagged weeks before burnout, not after an incident</a:t>
            </a:r>
          </a:p>
          <a:p>
            <a:pPr algn="l" marL="146304" indent="-146304">
              <a:spcAft>
                <a:spcPts val="300"/>
              </a:spcAft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Welfare Officer gets a ranked, explained caseload; Commander sees only unit-level heatmaps (no names) — dignity &amp; confidentiality preserved</a:t>
            </a:r>
          </a:p>
          <a:p>
            <a:pPr algn="l" marL="146304" indent="-146304">
              <a:buClr>
                <a:srgbClr val="0E7C7B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Auto-recommends interventions: counselling (Tele-MANAS referral), leave prioritisation, workload rebalancing, buddy pairing, family outreach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365760" y="4334256"/>
            <a:ext cx="365760" cy="365760"/>
          </a:xfrm>
          <a:prstGeom prst="ellipse">
            <a:avLst/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2" name="Picture 15371" descr="rocket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425696"/>
            <a:ext cx="182880" cy="182880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822960" y="4334256"/>
            <a:ext cx="6446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11480" y="4764024"/>
            <a:ext cx="681228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Consent-tiered data (Tier 0: HRMS only → Tier 1: self-report → Tier 2: wearables) — every jawan controls what is shared</a:t>
            </a:r>
          </a:p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Explainable AI (SHAP) shows “why flagged” in Hindi/English; human-in-the-loop — AI ranks, the welfare officer decides</a:t>
            </a:r>
          </a:p>
          <a:p>
            <a:pPr algn="l" marL="146304" indent="-146304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Stigma-safe by design: pseudonymised IDs, k-anonymity, welfare-only access, never linked to ACR / promotion / posting</a:t>
            </a:r>
          </a:p>
          <a:p>
            <a:pPr algn="l" marL="146304" indent="-146304">
              <a:buClr>
                <a:srgbClr val="E8772E"/>
              </a:buClr>
              <a:buFont typeface="Arial"/>
              <a:buChar char="•"/>
            </a:pPr>
            <a:r>
              <a:rPr sz="1100" b="0" i="0">
                <a:solidFill>
                  <a:srgbClr val="1F2933"/>
                </a:solidFill>
                <a:latin typeface="Calibri"/>
              </a:rPr>
              <a:t>Offline-first app in 12 Indian languages for LWE / border / high-altitude postings; force-specific model calibration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7543800" y="1188720"/>
            <a:ext cx="4297680" cy="5029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7543800" y="1298448"/>
            <a:ext cx="4297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MANOBAL AT A GLANCE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543800" y="1645920"/>
            <a:ext cx="4297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A9B7D0"/>
                </a:solidFill>
                <a:latin typeface="Calibri"/>
              </a:rPr>
              <a:t>SIGNALS  (consent-tiered, opt-in)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635240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9" name="Picture 15378" descr="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9" y="2011680"/>
            <a:ext cx="292608" cy="292608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7635240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HRMS Signals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leave · duty hrs · transfers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043416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2" name="Picture 15381" descr="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6" y="2011680"/>
            <a:ext cx="292608" cy="292608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9043416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Self-Report App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PHQ-9 · GAD-7 · mood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10451592" y="1920240"/>
            <a:ext cx="129844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w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512" y="2011680"/>
            <a:ext cx="292608" cy="292608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10451592" y="2331720"/>
            <a:ext cx="129844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Wearables (opt-in)</a:t>
            </a:r>
          </a:p>
          <a:p>
            <a:pPr algn="ctr"/>
            <a:r>
              <a:rPr sz="750" b="0" i="0">
                <a:solidFill>
                  <a:srgbClr val="C9D3E6"/>
                </a:solidFill>
                <a:latin typeface="Calibri"/>
              </a:rPr>
              <a:t>HRV · sleep · activity</a:t>
            </a:r>
          </a:p>
        </p:txBody>
      </p:sp>
      <p:sp>
        <p:nvSpPr>
          <p:cNvPr id="15387" name="Down Arrow 15386"/>
          <p:cNvSpPr/>
          <p:nvPr/>
        </p:nvSpPr>
        <p:spPr>
          <a:xfrm>
            <a:off x="9564624" y="2898648"/>
            <a:ext cx="256032" cy="27432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7799831" y="3218688"/>
            <a:ext cx="3785616" cy="91440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9" name="Picture 15388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79" y="3474720"/>
            <a:ext cx="411480" cy="411480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8458200" y="3264408"/>
            <a:ext cx="310896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Predictive Behavioural Engine</a:t>
            </a:r>
          </a:p>
          <a:p>
            <a:pPr algn="l"/>
            <a:r>
              <a:rPr sz="850" b="0" i="0">
                <a:solidFill>
                  <a:srgbClr val="E3F2F1"/>
                </a:solidFill>
                <a:latin typeface="Calibri"/>
              </a:rPr>
              <a:t>Explainable Stress &amp; Burnout Risk Index (0–100) + top-3 drivers + recommended intervention</a:t>
            </a:r>
          </a:p>
        </p:txBody>
      </p:sp>
      <p:sp>
        <p:nvSpPr>
          <p:cNvPr id="15391" name="Down Arrow 15390"/>
          <p:cNvSpPr/>
          <p:nvPr/>
        </p:nvSpPr>
        <p:spPr>
          <a:xfrm>
            <a:off x="9564624" y="4197096"/>
            <a:ext cx="256032" cy="274320"/>
          </a:xfrm>
          <a:prstGeom prst="down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7799831" y="4517136"/>
            <a:ext cx="182422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3" name="Picture 15392" descr="user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9559" y="4818888"/>
            <a:ext cx="310896" cy="310896"/>
          </a:xfrm>
          <a:prstGeom prst="rect">
            <a:avLst/>
          </a:prstGeom>
        </p:spPr>
      </p:pic>
      <p:sp>
        <p:nvSpPr>
          <p:cNvPr id="15394" name="TextBox 15393"/>
          <p:cNvSpPr txBox="1"/>
          <p:nvPr/>
        </p:nvSpPr>
        <p:spPr>
          <a:xfrm>
            <a:off x="8257031" y="4553712"/>
            <a:ext cx="1321308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Welfare Officer</a:t>
            </a:r>
          </a:p>
          <a:p>
            <a:pPr algn="l"/>
            <a:r>
              <a:rPr sz="800" b="0" i="0">
                <a:solidFill>
                  <a:srgbClr val="C9D3E6"/>
                </a:solidFill>
                <a:latin typeface="Calibri"/>
              </a:rPr>
              <a:t>ranked &amp; explained caseload; alerts; case notes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9761220" y="4517136"/>
            <a:ext cx="1824228" cy="914400"/>
          </a:xfrm>
          <a:prstGeom prst="roundRect">
            <a:avLst>
              <a:gd name="adj" fmla="val 10000"/>
            </a:avLst>
          </a:prstGeom>
          <a:solidFill>
            <a:srgbClr val="2E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6" name="Picture 15395" descr="cha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0948" y="4818888"/>
            <a:ext cx="310896" cy="310896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10218420" y="4553712"/>
            <a:ext cx="1321308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Commander / HQ</a:t>
            </a:r>
          </a:p>
          <a:p>
            <a:pPr algn="l"/>
            <a:r>
              <a:rPr sz="800" b="0" i="0">
                <a:solidFill>
                  <a:srgbClr val="C9D3E6"/>
                </a:solidFill>
                <a:latin typeface="Calibri"/>
              </a:rPr>
              <a:t>unit-level heatmaps &amp; trends only — no names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7799831" y="5541264"/>
            <a:ext cx="3785616" cy="65836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9" name="Picture 15398" descr="shie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7848" y="5715000"/>
            <a:ext cx="310896" cy="310896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8321040" y="5559552"/>
            <a:ext cx="32461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E8772E"/>
                </a:solidFill>
                <a:latin typeface="Calibri"/>
              </a:rPr>
              <a:t>Privacy Shield</a:t>
            </a:r>
          </a:p>
          <a:p>
            <a:pPr algn="l"/>
            <a:r>
              <a:rPr sz="800" b="0" i="0">
                <a:solidFill>
                  <a:srgbClr val="E3F2F1"/>
                </a:solidFill>
                <a:latin typeface="Calibri"/>
              </a:rPr>
              <a:t>pseudonymised IDs · k-anonymity · AES-256 · DPDP Act 2023 · welfare-only RBAC · full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982980" y="1321308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1447038"/>
            <a:ext cx="251460" cy="25146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411480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1. Data Sources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9768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HRMS / PIS APIs (leave, duty roster, transfers, training), mobile check-ins, opt-in wearables via Health Connect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2121408" y="2116836"/>
            <a:ext cx="173736" cy="237744"/>
          </a:xfrm>
          <a:prstGeom prst="rightArrow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2313432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2930651" y="1321308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381" y="1447038"/>
            <a:ext cx="251460" cy="25146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359151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2. Consent &amp; Anonymisation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377439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Consent ledger per data tier; pseudonymised IDs; field-level encryption; k-anonymity for aggregates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4069079" y="2116836"/>
            <a:ext cx="173736" cy="237744"/>
          </a:xfrm>
          <a:prstGeom prst="rightArrow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261104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4878324" y="1321308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cog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054" y="1447038"/>
            <a:ext cx="251460" cy="25146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4306824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3. Feature Engineering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325112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40+ temporal features: leave-denial rate, days since home visit, duty hrs/week, transfer frequency, check-in trend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6016752" y="2116836"/>
            <a:ext cx="173736" cy="237744"/>
          </a:xfrm>
          <a:prstGeom prst="rightArrow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6208776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6825996" y="1321308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726" y="1447038"/>
            <a:ext cx="251460" cy="25146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254496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4. ML Risk Engine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72784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XGBoost + LSTM temporal model; IndicBERT NLP on check-in text; Isolation-Forest anomaly detection; calibrated 0–100 index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7964423" y="2116836"/>
            <a:ext cx="173736" cy="237744"/>
          </a:xfrm>
          <a:prstGeom prst="rightArrow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8156448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Oval 17434"/>
          <p:cNvSpPr/>
          <p:nvPr/>
        </p:nvSpPr>
        <p:spPr>
          <a:xfrm>
            <a:off x="8773667" y="1321308"/>
            <a:ext cx="502920" cy="5029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9398" y="1447038"/>
            <a:ext cx="251460" cy="251460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8202168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5. Explain &amp; Recommend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220456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SHAP top-3 drivers in plain Hindi/English; rule + ML mapping to interventions (counselling, leave, rebalancing)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9912096" y="2116836"/>
            <a:ext cx="173736" cy="237744"/>
          </a:xfrm>
          <a:prstGeom prst="rightArrow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10104119" y="1207008"/>
            <a:ext cx="1737360" cy="20574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10721339" y="1321308"/>
            <a:ext cx="502920" cy="5029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be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7069" y="1447038"/>
            <a:ext cx="251460" cy="25146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10149840" y="1892808"/>
            <a:ext cx="164591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B2A4A"/>
                </a:solidFill>
                <a:latin typeface="Calibri"/>
              </a:rPr>
              <a:t>6. Dashboards &amp; Alerts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0168128" y="2258568"/>
            <a:ext cx="1609343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Role-based views (jawan / welfare officer / commander); unit heatmaps; automated alerts; feedback loop to retrain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65760" y="3364992"/>
            <a:ext cx="4572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TECHNOLOGY STACK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65760" y="3703320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mobile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3813048"/>
            <a:ext cx="274320" cy="27432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822960" y="3758183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Mobile App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75488" y="4142231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Flutter (Android/iOS), offline-first SQLite sync, Hindi + 12 Indian languages, voice check-ins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2766060" y="3703320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1" name="Picture 17450" descr="server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75788" y="3813048"/>
            <a:ext cx="274320" cy="27432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3223260" y="3758183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Backend &amp; APIs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2875788" y="4142231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Python FastAPI + Node.js, REST/gRPC, Keycloak RBAC &amp; MFA, HRMS connectors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5166360" y="3703320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robot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6088" y="3813048"/>
            <a:ext cx="274320" cy="274320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5623560" y="3758183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AI / ML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5276088" y="4142231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scikit-learn, XGBoost, PyTorch (LSTM), SHAP, Hugging Face IndicBERT, MLflow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65760" y="5001768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database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" y="5111496"/>
            <a:ext cx="274320" cy="274320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22960" y="5056631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Data Layer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75488" y="5440679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PostgreSQL, Redis, Feast feature store, MinIO object store, Apache Airflow pipelines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2766060" y="5001768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lock_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5788" y="5111496"/>
            <a:ext cx="274320" cy="274320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3223260" y="5056631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Security &amp; Privacy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2875788" y="5440679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AES-256 at rest, TLS 1.3, HashiCorp Vault, immutable audit logs, DPDP Act 2023 controls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5166360" y="5001768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7" name="Picture 17466" descr="cloud_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6088" y="5111496"/>
            <a:ext cx="274320" cy="274320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5623560" y="5056631"/>
            <a:ext cx="17373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Deployment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5276088" y="5440679"/>
            <a:ext cx="203911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F2933"/>
                </a:solidFill>
                <a:latin typeface="Calibri"/>
              </a:rPr>
              <a:t>Docker + Kubernetes on NIC MeghRaj / on-prem, air-gap ready, CERT-In hardening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7680960" y="3364992"/>
            <a:ext cx="4160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METHODOLOGY &amp; IMPLEMENTATION PROCESS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7680960" y="370332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Oval 17471"/>
          <p:cNvSpPr/>
          <p:nvPr/>
        </p:nvSpPr>
        <p:spPr>
          <a:xfrm>
            <a:off x="7754112" y="3776472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7754112" y="37764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138160" y="3721607"/>
            <a:ext cx="365760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4A"/>
                </a:solidFill>
                <a:latin typeface="Calibri"/>
              </a:rPr>
              <a:t>Integrate:  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Secure HRMS/PIS connectors; build synthetic + anonymised pilot dataset with force HR &amp; medical wing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7680960" y="4215383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Oval 17475"/>
          <p:cNvSpPr/>
          <p:nvPr/>
        </p:nvSpPr>
        <p:spPr>
          <a:xfrm>
            <a:off x="7754112" y="4288536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7754112" y="42885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138160" y="4233671"/>
            <a:ext cx="365760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4A"/>
                </a:solidFill>
                <a:latin typeface="Calibri"/>
              </a:rPr>
              <a:t>Co-design:  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Assessments &amp; thresholds with force psychologists; validated scales (PHQ-9, GAD-7, PSS-10)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7680960" y="4727448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Oval 17479"/>
          <p:cNvSpPr/>
          <p:nvPr/>
        </p:nvSpPr>
        <p:spPr>
          <a:xfrm>
            <a:off x="7754112" y="4800600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7754112" y="48006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8138160" y="4745736"/>
            <a:ext cx="365760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4A"/>
                </a:solidFill>
                <a:latin typeface="Calibri"/>
              </a:rPr>
              <a:t>Train &amp; validate:  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Time-series models; optimise for recall (missed cases cost most); fairness &amp; drift checks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7680960" y="5239512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4" name="Oval 17483"/>
          <p:cNvSpPr/>
          <p:nvPr/>
        </p:nvSpPr>
        <p:spPr>
          <a:xfrm>
            <a:off x="7754112" y="5312664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7754112" y="53126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138160" y="5257800"/>
            <a:ext cx="365760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4A"/>
                </a:solidFill>
                <a:latin typeface="Calibri"/>
              </a:rPr>
              <a:t>Pilot (90 days):  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One battalion (~1,000 personnel); measure lead-time, uptake, counsellor workload, false-positive rate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7680960" y="5751576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8" name="Oval 17487"/>
          <p:cNvSpPr/>
          <p:nvPr/>
        </p:nvSpPr>
        <p:spPr>
          <a:xfrm>
            <a:off x="7754112" y="5824728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7754112" y="58247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8138160" y="5769864"/>
            <a:ext cx="365760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B2A4A"/>
                </a:solidFill>
                <a:latin typeface="Calibri"/>
              </a:rPr>
              <a:t>Scale &amp; learn:  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Force-wide rollout via MeghRaj; continuous learning from welfare-officer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16736"/>
            <a:ext cx="237744" cy="23774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046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828800"/>
            <a:ext cx="146304" cy="14630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949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Software-only — no new hardware; wearables strictly optional</a:t>
            </a:r>
          </a:p>
        </p:txBody>
      </p:sp>
      <p:pic>
        <p:nvPicPr>
          <p:cNvPr id="17416" name="Picture 17415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359152"/>
            <a:ext cx="146304" cy="14630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949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Leave, duty &amp; transfer data already digitised in CAPF PIS / e-HRMS</a:t>
            </a:r>
          </a:p>
        </p:txBody>
      </p:sp>
      <p:pic>
        <p:nvPicPr>
          <p:cNvPr id="17418" name="Picture 17417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889504"/>
            <a:ext cx="146304" cy="14630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49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Validated clinical scales (PHQ-9, GAD-7, PSS-10) — no new instruments to prove</a:t>
            </a:r>
          </a:p>
        </p:txBody>
      </p:sp>
      <p:pic>
        <p:nvPicPr>
          <p:cNvPr id="17420" name="Picture 17419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419856"/>
            <a:ext cx="146304" cy="14630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949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Open-source ML stack; XGBoost / LSTM / SHAP are mature &amp; auditable</a:t>
            </a:r>
          </a:p>
        </p:txBody>
      </p:sp>
      <p:pic>
        <p:nvPicPr>
          <p:cNvPr id="17422" name="Picture 17421" descr="check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50208"/>
            <a:ext cx="146304" cy="146304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949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Aligned with MHA Task Force (2022) mandate on stress &amp; suicide prevention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8803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war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1316736"/>
            <a:ext cx="237744" cy="23774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3192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Challenges &amp; Risks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8803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1828800"/>
            <a:ext cx="146304" cy="14630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32095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Trust &amp; stigma — fear that a risk flag will affect career or posting</a:t>
            </a:r>
          </a:p>
        </p:txBody>
      </p:sp>
      <p:pic>
        <p:nvPicPr>
          <p:cNvPr id="17430" name="Picture 17429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359152"/>
            <a:ext cx="146304" cy="14630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32095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Cyber threats on highly sensitive psychological &amp; welfare data</a:t>
            </a:r>
          </a:p>
        </p:txBody>
      </p:sp>
      <p:pic>
        <p:nvPicPr>
          <p:cNvPr id="17432" name="Picture 17431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2889504"/>
            <a:ext cx="146304" cy="14630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2095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False positives / negatives; cold-start with little labelled data</a:t>
            </a:r>
          </a:p>
        </p:txBody>
      </p:sp>
      <p:pic>
        <p:nvPicPr>
          <p:cNvPr id="17434" name="Picture 17433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3419856"/>
            <a:ext cx="146304" cy="14630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32095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Low self-reporting in remote, low-connectivity deployments</a:t>
            </a:r>
          </a:p>
        </p:txBody>
      </p:sp>
      <p:pic>
        <p:nvPicPr>
          <p:cNvPr id="17436" name="Picture 17435" descr="exc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088" y="3950208"/>
            <a:ext cx="146304" cy="14630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32095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Cultural &amp; linguistic diversity across forces and units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394960" y="1207008"/>
            <a:ext cx="2377440" cy="438912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9" name="Picture 17438" descr="tool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1316736"/>
            <a:ext cx="237744" cy="23774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5833872" y="1207008"/>
            <a:ext cx="1920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Mitigation Strategies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394960" y="1700784"/>
            <a:ext cx="2377440" cy="2761488"/>
          </a:xfrm>
          <a:prstGeom prst="roundRect">
            <a:avLst>
              <a:gd name="adj" fmla="val 5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1828800"/>
            <a:ext cx="146304" cy="14630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5724144" y="1773936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Welfare-only charter: no link to ACR/promotion; jawan can view &amp; contest own score</a:t>
            </a:r>
          </a:p>
        </p:txBody>
      </p:sp>
      <p:pic>
        <p:nvPicPr>
          <p:cNvPr id="17444" name="Picture 17443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2359152"/>
            <a:ext cx="146304" cy="146304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5724144" y="2304288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Pseudonymisation, AES-256, RBAC, on-prem/MeghRaj hosting, audit trails, DPDP-compliant</a:t>
            </a:r>
          </a:p>
        </p:txBody>
      </p:sp>
      <p:pic>
        <p:nvPicPr>
          <p:cNvPr id="17446" name="Picture 17445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2889504"/>
            <a:ext cx="146304" cy="14630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5724144" y="2834640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Human-in-the-loop; thresholds tuned for recall; feedback loop retrains monthly</a:t>
            </a:r>
          </a:p>
        </p:txBody>
      </p:sp>
      <p:pic>
        <p:nvPicPr>
          <p:cNvPr id="17448" name="Picture 17447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3419856"/>
            <a:ext cx="146304" cy="146304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5724144" y="3364992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Offline-first app, 2-min check-ins, 12 languages, voice input</a:t>
            </a:r>
          </a:p>
        </p:txBody>
      </p:sp>
      <p:pic>
        <p:nvPicPr>
          <p:cNvPr id="17450" name="Picture 17449" descr="arrow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688" y="3950208"/>
            <a:ext cx="146304" cy="14630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5724144" y="3895344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Force-specific calibration with unit psychologists; bias audits each quarter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8046720" y="1207008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3" name="Picture 17452" descr="rupee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1344168"/>
            <a:ext cx="329184" cy="329184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156448" y="1709928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₹0 hardware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Software-only platform; opt-in wearables use devices personnel already own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10012680" y="1207008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code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1344168"/>
            <a:ext cx="329184" cy="329184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122408" y="1709928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Zero licence cost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100 % open-source stack; indigenous IP retained by MHA / forces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046720" y="2962656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cloud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3880" y="3099816"/>
            <a:ext cx="329184" cy="329184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156448" y="3465576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Existing infra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Runs on NIC MeghRaj or on-prem; air-gap ready for sensitive units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0012680" y="2962656"/>
            <a:ext cx="1828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2" name="Picture 17461" descr="handshake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9840" y="3099816"/>
            <a:ext cx="329184" cy="329184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122408" y="3465576"/>
            <a:ext cx="1609344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Opt-in &amp; DPDP-ready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573"/>
                </a:solidFill>
                <a:latin typeface="Calibri"/>
              </a:rPr>
              <a:t>Consent-based tiers — no new legal mandate needed to start a pilot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365760" y="4553712"/>
            <a:ext cx="5486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PHASED ROLLOUT ROADMAP</a:t>
            </a:r>
          </a:p>
        </p:txBody>
      </p:sp>
      <p:sp>
        <p:nvSpPr>
          <p:cNvPr id="17465" name="Pentagon 17464"/>
          <p:cNvSpPr/>
          <p:nvPr/>
        </p:nvSpPr>
        <p:spPr>
          <a:xfrm>
            <a:off x="365760" y="4864608"/>
            <a:ext cx="2999232" cy="1298448"/>
          </a:xfrm>
          <a:prstGeom prst="homePlate">
            <a:avLst>
              <a:gd name="adj" fmla="val 2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502920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0 · 0–2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Prototype on synthetic + anonymised data; privacy &amp; security review</a:t>
            </a:r>
          </a:p>
        </p:txBody>
      </p:sp>
      <p:sp>
        <p:nvSpPr>
          <p:cNvPr id="17467" name="Chevron 17466"/>
          <p:cNvSpPr/>
          <p:nvPr/>
        </p:nvSpPr>
        <p:spPr>
          <a:xfrm>
            <a:off x="3191256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3648456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1 · 2–6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90-day pilot in one battalion; validate lead-time &amp; false-positive rate</a:t>
            </a:r>
          </a:p>
        </p:txBody>
      </p:sp>
      <p:sp>
        <p:nvSpPr>
          <p:cNvPr id="17469" name="Chevron 17468"/>
          <p:cNvSpPr/>
          <p:nvPr/>
        </p:nvSpPr>
        <p:spPr>
          <a:xfrm>
            <a:off x="6016752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6473952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2 · 6–12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Roll out across one force (e.g., CRPF) with live HRMS integration</a:t>
            </a:r>
          </a:p>
        </p:txBody>
      </p:sp>
      <p:sp>
        <p:nvSpPr>
          <p:cNvPr id="17471" name="Chevron 17470"/>
          <p:cNvSpPr/>
          <p:nvPr/>
        </p:nvSpPr>
        <p:spPr>
          <a:xfrm>
            <a:off x="8842248" y="4864608"/>
            <a:ext cx="2999232" cy="1298448"/>
          </a:xfrm>
          <a:prstGeom prst="chevron">
            <a:avLst>
              <a:gd name="adj" fmla="val 22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9299448" y="4974336"/>
            <a:ext cx="2130552" cy="10789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 3 · 12–24 mo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All CAPFs, Armed Forces &amp; State Police; cross-force benchmarking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188720"/>
            <a:ext cx="14173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E8772E"/>
                </a:solidFill>
                <a:latin typeface="Calibri"/>
              </a:rPr>
              <a:t>730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874520" y="1234440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suicides in CAPFs, NSG &amp; Assam Rifles in 2020–24 (MHA, Rajya Sabha, Dec 2024)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519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43400" y="1188720"/>
            <a:ext cx="14173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E8772E"/>
                </a:solidFill>
                <a:latin typeface="Calibri"/>
              </a:rPr>
              <a:t>55,500+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760720" y="1234440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voluntary retirements &amp; resignations in the same period — stress and attrition are linked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38160" y="118872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229600" y="118872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Calibri"/>
              </a:rPr>
              <a:t>Reactive → Proactive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332719" y="1234440"/>
            <a:ext cx="14173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F2933"/>
                </a:solidFill>
                <a:latin typeface="Calibri"/>
              </a:rPr>
              <a:t>MANOBAL moves welfare from post-incident response to early, evidence-based prevention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2011680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8772E"/>
                </a:solidFill>
                <a:latin typeface="Calibri"/>
              </a:rPr>
              <a:t>IMPACT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360920" y="2011680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E7C7B"/>
                </a:solidFill>
                <a:latin typeface="Calibri"/>
              </a:rPr>
              <a:t>BENEFITS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4709160" y="2606040"/>
            <a:ext cx="1387144" cy="15544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 flipH="1">
            <a:off x="6096304" y="2606040"/>
            <a:ext cx="1383488" cy="1554480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4709160" y="3401568"/>
            <a:ext cx="1387144" cy="758952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 flipH="1">
            <a:off x="6096304" y="3401568"/>
            <a:ext cx="1383488" cy="758952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V="1">
            <a:off x="4709160" y="4160520"/>
            <a:ext cx="1387144" cy="36576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 flipH="1" flipV="1">
            <a:off x="6096304" y="4160520"/>
            <a:ext cx="1383488" cy="36576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V="1">
            <a:off x="4709160" y="4160520"/>
            <a:ext cx="1387144" cy="832104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 flipH="1" flipV="1">
            <a:off x="6096304" y="4160520"/>
            <a:ext cx="1383488" cy="832104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 flipV="1">
            <a:off x="4709160" y="4160520"/>
            <a:ext cx="1387144" cy="1627631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 flipH="1" flipV="1">
            <a:off x="6096304" y="4160520"/>
            <a:ext cx="1383488" cy="1627631"/>
          </a:xfrm>
          <a:prstGeom prst="line">
            <a:avLst/>
          </a:prstGeom>
          <a:ln w="12700">
            <a:solidFill>
              <a:srgbClr val="B8C1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65760" y="2249424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4142232" y="2331720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468880"/>
            <a:ext cx="274320" cy="27432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502920" y="2286000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Early identification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of personnel needing welfare support — timely counselling &amp; leave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3044952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4142232" y="3127248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he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3264408"/>
            <a:ext cx="274320" cy="27432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02920" y="3081528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Fewer incidents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reduction in stress-related incidents, self-harm and fratricide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65760" y="3840480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4142232" y="3922776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1" name="Picture 17440" descr="balan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4059935"/>
            <a:ext cx="274320" cy="27432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502920" y="3877056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Balanced workload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data-driven duty rosters, leave planning &amp; transfer decisions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65760" y="4636008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4142232" y="4718304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ret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855464"/>
            <a:ext cx="274320" cy="27432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502920" y="4672584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Higher retention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lower attrition / VRS; better job satisfaction &amp; morale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365760" y="5431536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4142232" y="5513831"/>
            <a:ext cx="548640" cy="54864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9" name="Picture 17448" descr="chart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5650991"/>
            <a:ext cx="274320" cy="27432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02920" y="5468112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Evidence-based welfare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unit-level trends guide budgets, counsellor deployment &amp; policy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754112" y="2249424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Oval 17451"/>
          <p:cNvSpPr/>
          <p:nvPr/>
        </p:nvSpPr>
        <p:spPr>
          <a:xfrm>
            <a:off x="7498079" y="233172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3" name="Picture 17452" descr="smi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468880"/>
            <a:ext cx="274320" cy="274320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165592" y="2286000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Social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confidential, destigmatised mental-health support for jawans &amp; families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7754112" y="3044952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Oval 17455"/>
          <p:cNvSpPr/>
          <p:nvPr/>
        </p:nvSpPr>
        <p:spPr>
          <a:xfrm>
            <a:off x="7498079" y="3127248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meda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264408"/>
            <a:ext cx="274320" cy="27432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8165592" y="3081528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Organisational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enhanced force readiness, resilience &amp; operational effectiveness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7754112" y="3840480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Oval 17459"/>
          <p:cNvSpPr/>
          <p:nvPr/>
        </p:nvSpPr>
        <p:spPr>
          <a:xfrm>
            <a:off x="7498079" y="3922776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coin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0" y="4059935"/>
            <a:ext cx="274320" cy="274320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8165592" y="3877056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Economic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saves recruitment &amp; training cost of every trained personnel retained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7754112" y="4636008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Oval 17463"/>
          <p:cNvSpPr/>
          <p:nvPr/>
        </p:nvSpPr>
        <p:spPr>
          <a:xfrm>
            <a:off x="7498079" y="4718304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5" name="Picture 17464" descr="flagin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4855464"/>
            <a:ext cx="274320" cy="274320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8165592" y="4672584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Strategic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indigenous, sovereign welfare-tech for Indian forces (Atmanirbhar Bharat)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7754112" y="5431536"/>
            <a:ext cx="4069080" cy="713232"/>
          </a:xfrm>
          <a:prstGeom prst="roundRect">
            <a:avLst>
              <a:gd name="adj" fmla="val 50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Oval 17467"/>
          <p:cNvSpPr/>
          <p:nvPr/>
        </p:nvSpPr>
        <p:spPr>
          <a:xfrm>
            <a:off x="7498079" y="5513831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9" name="Picture 17468" descr="expand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240" y="5650991"/>
            <a:ext cx="274320" cy="274320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8165592" y="5468112"/>
            <a:ext cx="35204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2A4A"/>
                </a:solidFill>
                <a:latin typeface="Calibri"/>
              </a:rPr>
              <a:t>Scalable — </a:t>
            </a:r>
            <a:r>
              <a:rPr sz="950" b="0" i="0">
                <a:solidFill>
                  <a:srgbClr val="1F2933"/>
                </a:solidFill>
                <a:latin typeface="Calibri"/>
              </a:rPr>
              <a:t>State Police, NDRF / disaster response, government &amp; corporate HR wellness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5003596" y="3067811"/>
            <a:ext cx="2185415" cy="2185415"/>
          </a:xfrm>
          <a:prstGeom prst="ellipse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Oval 17471"/>
          <p:cNvSpPr/>
          <p:nvPr/>
        </p:nvSpPr>
        <p:spPr>
          <a:xfrm>
            <a:off x="5113324" y="3177539"/>
            <a:ext cx="1965960" cy="19659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3" name="Picture 17472" descr="brai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1984" y="3383279"/>
            <a:ext cx="548640" cy="548640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5113324" y="3977639"/>
            <a:ext cx="19659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MANOBAL</a:t>
            </a:r>
          </a:p>
          <a:p>
            <a:pPr algn="ctr"/>
            <a:r>
              <a:rPr sz="900" b="0" i="0">
                <a:solidFill>
                  <a:srgbClr val="C9D3E6"/>
                </a:solidFill>
                <a:latin typeface="Calibri"/>
              </a:rPr>
              <a:t>Reactive → Proactive
Welfare Management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15568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384048" y="118872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gov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271016"/>
            <a:ext cx="164592" cy="16459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4672" y="1188720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Policy &amp; Government Data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160020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MHA reply, Rajya Sabha (4 Dec 2024): 730 suicides, 47,891 VRS &amp; 7,664 resignations in CAPFs/NSG/AR, 2020–24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5"/>
              </a:rPr>
              <a:t>https://aninews.in/news/national/general-news/730-suicides-amongst-capfs-nsg-and-assam-rifles-during-the-last-five-years-nityanand-rai20241204183618/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231343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2.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MHA Task Force on suicides &amp; fratricide in CAPFs (2022) — service, working &amp; personal stress factors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6"/>
              </a:rPr>
              <a:t>https://www.deccanherald.com/india/mha-creates-taskforce-to-prevent-suicides-by-central-armed-police-forces-troops-1056571.html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302666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3.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Digital Personal Data Protection Act, 2023 — MeitY (consent, purpose limitation, data-fiduciary duties)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7"/>
              </a:rPr>
              <a:t>https://www.meity.gov.in/data-protection-framework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0040" y="3675887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84048" y="3749039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clinic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" y="3831335"/>
            <a:ext cx="164592" cy="16459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04672" y="3749039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Clinical Instruments &amp; Existing Welfare Measures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416052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4.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Kroenke et al. (2001) PHQ-9 depression scale; Spitzer et al. (2006) GAD-7 anxiety scale — validated screening tools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9"/>
              </a:rPr>
              <a:t>https://pubmed.ncbi.nlm.nih.gov/11556941/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487375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5.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Cohen et al. (1983) Perceived Stress Scale (PSS-10); WHO ICD-11 burn-out definition (2019)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0"/>
              </a:rPr>
              <a:t>https://www.who.int/news/item/28-05-2019-burn-out-an-occupational-phenomenon-international-classification-of-diseases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58698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6.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Tele-MANAS (MoHFW) national tele-mental-health helpline 14416 — counselling referral pathway; CRPF ‘Chaupal’ &amp; buddy system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1"/>
              </a:rPr>
              <a:t>https://telemanas.mohfw.gov.in/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17920" y="1115568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6281928" y="118872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6" name="Picture 17425" descr="book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4224" y="1271016"/>
            <a:ext cx="164592" cy="16459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702552" y="1188720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Research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55079" y="160020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7.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Schmidt et al. (2018) WESAD — wearable stress &amp; affect detection dataset (ICMI)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3"/>
              </a:rPr>
              <a:t>https://dl.acm.org/doi/10.1145/3242969.3242985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355079" y="231343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8.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Lundberg &amp; Lee (2017) SHAP — unified approach to interpreting model predictions (NeurIPS)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4"/>
              </a:rPr>
              <a:t>https://arxiv.org/abs/1705.07874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355079" y="302666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9.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Chen &amp; Guestrin (2016) XGBoost — scalable tree boosting system (KDD)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5"/>
              </a:rPr>
              <a:t>https://arxiv.org/abs/1603.02754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217920" y="3675887"/>
            <a:ext cx="5669279" cy="2450592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6281928" y="3749039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code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4224" y="3831335"/>
            <a:ext cx="164592" cy="16459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702552" y="3749039"/>
            <a:ext cx="51206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Technology &amp; Standards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55079" y="4160520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10.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Hugging Face IndicBERT / AI4Bharat — Indian-language NLP for check-in text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7"/>
              </a:rPr>
              <a:t>https://huggingface.co/ai4bharat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355079" y="4873752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11.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NIC MeghRaj Government Cloud &amp; CERT-In security guidelines for hosting sensitive data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8"/>
              </a:rPr>
              <a:t>https://cloud.gov.in/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355079" y="5586984"/>
            <a:ext cx="544067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E8772E"/>
                </a:solidFill>
                <a:latin typeface="Calibri"/>
              </a:rPr>
              <a:t>12. </a:t>
            </a:r>
            <a:r>
              <a:rPr sz="950" b="1" i="0">
                <a:solidFill>
                  <a:srgbClr val="1F2933"/>
                </a:solidFill>
                <a:latin typeface="Calibri"/>
              </a:rPr>
              <a:t>Android Health Connect API — consent-based access to wearable HRV, sleep &amp; activity data</a:t>
            </a:r>
          </a:p>
          <a:p>
            <a:pPr algn="l" marL="182880"/>
            <a:r>
              <a:rPr sz="800" b="0" i="0">
                <a:solidFill>
                  <a:srgbClr val="0E7C7B"/>
                </a:solidFill>
                <a:latin typeface="Calibri"/>
                <a:hlinkClick r:id="rId19"/>
              </a:rPr>
              <a:t>https://developer.android.com/health-and-fitness/guides/health-connect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