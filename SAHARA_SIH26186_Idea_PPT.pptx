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6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33.png"/><Relationship Id="rId27" Type="http://schemas.openxmlformats.org/officeDocument/2006/relationships/image" Target="../media/image34.png"/><Relationship Id="rId28" Type="http://schemas.openxmlformats.org/officeDocument/2006/relationships/image" Target="../media/image35.png"/><Relationship Id="rId29" Type="http://schemas.openxmlformats.org/officeDocument/2006/relationships/image" Target="../media/image36.png"/><Relationship Id="rId30" Type="http://schemas.openxmlformats.org/officeDocument/2006/relationships/image" Target="../media/image37.png"/><Relationship Id="rId31" Type="http://schemas.openxmlformats.org/officeDocument/2006/relationships/image" Target="../media/image38.png"/><Relationship Id="rId32" Type="http://schemas.openxmlformats.org/officeDocument/2006/relationships/image" Target="../media/image39.png"/><Relationship Id="rId33" Type="http://schemas.openxmlformats.org/officeDocument/2006/relationships/image" Target="../media/image40.png"/><Relationship Id="rId34" Type="http://schemas.openxmlformats.org/officeDocument/2006/relationships/image" Target="../media/image41.png"/><Relationship Id="rId35" Type="http://schemas.openxmlformats.org/officeDocument/2006/relationships/image" Target="../media/image42.png"/><Relationship Id="rId36" Type="http://schemas.openxmlformats.org/officeDocument/2006/relationships/image" Target="../media/image4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4.png"/><Relationship Id="rId5" Type="http://schemas.openxmlformats.org/officeDocument/2006/relationships/hyperlink" Target="https://aninews.in/news/national/general-news/730-suicides-amongst-capfs-nsg-and-assam-rifles-during-the-last-five-years-nityanand-rai20241204183618/" TargetMode="External"/><Relationship Id="rId6" Type="http://schemas.openxmlformats.org/officeDocument/2006/relationships/hyperlink" Target="https://www.deccanherald.com/india/mha-creates-taskforce-to-prevent-suicides-by-central-armed-police-forces-troops-1056571.html" TargetMode="External"/><Relationship Id="rId7" Type="http://schemas.openxmlformats.org/officeDocument/2006/relationships/hyperlink" Target="https://www.meity.gov.in/data-protection-framework" TargetMode="External"/><Relationship Id="rId8" Type="http://schemas.openxmlformats.org/officeDocument/2006/relationships/image" Target="../media/image65.png"/><Relationship Id="rId9" Type="http://schemas.openxmlformats.org/officeDocument/2006/relationships/hyperlink" Target="https://pubmed.ncbi.nlm.nih.gov/11556941/" TargetMode="External"/><Relationship Id="rId10" Type="http://schemas.openxmlformats.org/officeDocument/2006/relationships/hyperlink" Target="https://www.who.int/news/item/28-05-2019-burn-out-an-occupational-phenomenon-international-classification-of-diseases" TargetMode="External"/><Relationship Id="rId11" Type="http://schemas.openxmlformats.org/officeDocument/2006/relationships/hyperlink" Target="https://telemanas.mohfw.gov.in/" TargetMode="External"/><Relationship Id="rId12" Type="http://schemas.openxmlformats.org/officeDocument/2006/relationships/image" Target="../media/image66.png"/><Relationship Id="rId13" Type="http://schemas.openxmlformats.org/officeDocument/2006/relationships/hyperlink" Target="https://dl.acm.org/doi/10.1145/3242969.3242985" TargetMode="External"/><Relationship Id="rId14" Type="http://schemas.openxmlformats.org/officeDocument/2006/relationships/hyperlink" Target="https://www.nature.com/articles/s42256-019-0138-9" TargetMode="External"/><Relationship Id="rId15" Type="http://schemas.openxmlformats.org/officeDocument/2006/relationships/hyperlink" Target="https://projecteuclid.org/euclid.aos/1013203451" TargetMode="External"/><Relationship Id="rId16" Type="http://schemas.openxmlformats.org/officeDocument/2006/relationships/image" Target="../media/image51.png"/><Relationship Id="rId17" Type="http://schemas.openxmlformats.org/officeDocument/2006/relationships/hyperlink" Target="https://jmlr.org/papers/v12/pedregosa11a.html" TargetMode="External"/><Relationship Id="rId18" Type="http://schemas.openxmlformats.org/officeDocument/2006/relationships/hyperlink" Target="https://cloud.gov.in/" TargetMode="External"/><Relationship Id="rId19" Type="http://schemas.openxmlformats.org/officeDocument/2006/relationships/hyperlink" Target="https://developer.android.com/health-and-fitness/guides/health-conn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SIH26186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7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AI-Based Predictive Personnel Stress and Welfare Monitoring System for Uniformed Forces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MedTech / BioTech / HealthTech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SAHARA – AI Welfare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15568"/>
            <a:ext cx="6903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1">
                <a:solidFill>
                  <a:srgbClr val="0E7C7B"/>
                </a:solidFill>
                <a:latin typeface="Calibri"/>
              </a:rPr>
              <a:t>Predictive Stress &amp; Welfare Monitoring for Uniformed Forces  •  welfare-first  •  privacy-first  •  explainable</a:t>
            </a:r>
          </a:p>
        </p:txBody>
      </p:sp>
      <p:sp>
        <p:nvSpPr>
          <p:cNvPr id="15363" name="Oval 15362"/>
          <p:cNvSpPr/>
          <p:nvPr/>
        </p:nvSpPr>
        <p:spPr>
          <a:xfrm>
            <a:off x="365760" y="1481328"/>
            <a:ext cx="365760" cy="365760"/>
          </a:xfrm>
          <a:prstGeom prst="ellipse">
            <a:avLst/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4" name="Picture 15363" descr="targe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72768"/>
            <a:ext cx="182880" cy="182880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822960" y="1481328"/>
            <a:ext cx="6446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11480" y="1911095"/>
            <a:ext cx="68122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SAHARA (सहारा = support) is a privacy-first AI platform that fuses HRMS context (duty hours, leave, deployment, night shifts), a 60-second daily check-in and opt-in wearable signals (sleep, HRV) into a 0–100 Welfare Risk Index with a 7-day forecast — explains every score with exact SHAP attributions and puts a specific, evidenced action before the officer who can authorise it. Welfare actions, never disciplinary flags.</a:t>
            </a:r>
          </a:p>
        </p:txBody>
      </p:sp>
      <p:sp>
        <p:nvSpPr>
          <p:cNvPr id="15367" name="Oval 15366"/>
          <p:cNvSpPr/>
          <p:nvPr/>
        </p:nvSpPr>
        <p:spPr>
          <a:xfrm>
            <a:off x="365760" y="2724912"/>
            <a:ext cx="365760" cy="365760"/>
          </a:xfrm>
          <a:prstGeom prst="ellipse">
            <a:avLst/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8" name="Picture 15367" descr="lightbulb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16352"/>
            <a:ext cx="182880" cy="182880"/>
          </a:xfrm>
          <a:prstGeom prst="rect">
            <a:avLst/>
          </a:prstGeom>
        </p:spPr>
      </p:pic>
      <p:sp>
        <p:nvSpPr>
          <p:cNvPr id="15369" name="TextBox 15368"/>
          <p:cNvSpPr txBox="1"/>
          <p:nvPr/>
        </p:nvSpPr>
        <p:spPr>
          <a:xfrm>
            <a:off x="822960" y="2724912"/>
            <a:ext cx="6446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11480" y="3154679"/>
            <a:ext cx="681228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 marL="146304" indent="-146304">
              <a:spcAft>
                <a:spcPts val="300"/>
              </a:spcAft>
              <a:buClr>
                <a:srgbClr val="0E7C7B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Replaces manual observation with continuous early warning — predicts deterioration 7 days ahead with a calibrated escalation probability, before an incident, not after</a:t>
            </a:r>
          </a:p>
          <a:p>
            <a:pPr algn="l" marL="146304" indent="-146304">
              <a:spcAft>
                <a:spcPts val="300"/>
              </a:spcAft>
              <a:buClr>
                <a:srgbClr val="0E7C7B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Welfare Officer gets ranked cases with the “why”; Command sees only pseudonymised unit aggregates — an individual record returns 403 and is audited</a:t>
            </a:r>
          </a:p>
          <a:p>
            <a:pPr algn="l" marL="146304" indent="-146304">
              <a:buClr>
                <a:srgbClr val="0E7C7B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Recommends interventions ranked by measured counterfactual effect (rest day, break night-shift run, sanction leave, peer support) with SOP citation + what-if simulator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365760" y="4334256"/>
            <a:ext cx="365760" cy="365760"/>
          </a:xfrm>
          <a:prstGeom prst="ellipse">
            <a:avLst/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2" name="Picture 15371" descr="rocket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425696"/>
            <a:ext cx="182880" cy="182880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822960" y="4334256"/>
            <a:ext cx="6446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11480" y="4764024"/>
            <a:ext cx="681228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 marL="146304" indent="-146304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Consent-gated, tiered data (check-in → HRMS → wearables) with an append-only consent ledger (DPDP Act 2023) — every jawan controls what is shared</a:t>
            </a:r>
          </a:p>
          <a:p>
            <a:pPr algn="l" marL="146304" indent="-146304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Exact TreeSHAP on every prediction (~320 µs) + 80 % prediction interval; escalation by 4 inspectable rules — AI ranks, the welfare officer decides</a:t>
            </a:r>
          </a:p>
          <a:p>
            <a:pPr algn="l" marL="146304" indent="-146304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Stigma-safe by design: HMAC pseudonyms, k = 10 suppression, welfare-only RBAC, hash-chained audit — never linked to ACR / promotion / posting</a:t>
            </a:r>
          </a:p>
          <a:p>
            <a:pPr algn="l" marL="146304" indent="-146304">
              <a:buClr>
                <a:srgbClr val="E8772E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Model runs in TypeScript (Python parity verified to 1e-13); zero native dependencies — runs on any laptop, on-prem ready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7543800" y="1188720"/>
            <a:ext cx="4297680" cy="50292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7543800" y="1298448"/>
            <a:ext cx="4297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SAHARA AT A GLANCE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7543800" y="1645920"/>
            <a:ext cx="4297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0" i="0">
                <a:solidFill>
                  <a:srgbClr val="A9B7D0"/>
                </a:solidFill>
                <a:latin typeface="Calibri"/>
              </a:rPr>
              <a:t>SIGNALS  (consent-tiered, opt-in)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7635240" y="1920240"/>
            <a:ext cx="129844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9" name="Picture 15378" descr="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59" y="2011680"/>
            <a:ext cx="292608" cy="292608"/>
          </a:xfrm>
          <a:prstGeom prst="rect">
            <a:avLst/>
          </a:prstGeom>
        </p:spPr>
      </p:pic>
      <p:sp>
        <p:nvSpPr>
          <p:cNvPr id="15380" name="TextBox 15379"/>
          <p:cNvSpPr txBox="1"/>
          <p:nvPr/>
        </p:nvSpPr>
        <p:spPr>
          <a:xfrm>
            <a:off x="7635240" y="2331720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HRMS Context</a:t>
            </a:r>
          </a:p>
          <a:p>
            <a:pPr algn="ctr"/>
            <a:r>
              <a:rPr sz="750" b="0" i="0">
                <a:solidFill>
                  <a:srgbClr val="C9D3E6"/>
                </a:solidFill>
                <a:latin typeface="Calibri"/>
              </a:rPr>
              <a:t>duty hrs · leave · deployment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9043416" y="1920240"/>
            <a:ext cx="129844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2" name="Picture 15381" descr="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6336" y="2011680"/>
            <a:ext cx="292608" cy="292608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9043416" y="2331720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Daily Check-in</a:t>
            </a:r>
          </a:p>
          <a:p>
            <a:pPr algn="ctr"/>
            <a:r>
              <a:rPr sz="750" b="0" i="0">
                <a:solidFill>
                  <a:srgbClr val="C9D3E6"/>
                </a:solidFill>
                <a:latin typeface="Calibri"/>
              </a:rPr>
              <a:t>5 questions · 60 seconds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10451592" y="1920240"/>
            <a:ext cx="129844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5" name="Picture 15384" descr="wat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4512" y="2011680"/>
            <a:ext cx="292608" cy="292608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10451592" y="2331720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Wearables (opt-in)</a:t>
            </a:r>
          </a:p>
          <a:p>
            <a:pPr algn="ctr"/>
            <a:r>
              <a:rPr sz="750" b="0" i="0">
                <a:solidFill>
                  <a:srgbClr val="C9D3E6"/>
                </a:solidFill>
                <a:latin typeface="Calibri"/>
              </a:rPr>
              <a:t>sleep · HRV · activity</a:t>
            </a:r>
          </a:p>
        </p:txBody>
      </p:sp>
      <p:sp>
        <p:nvSpPr>
          <p:cNvPr id="15387" name="Down Arrow 15386"/>
          <p:cNvSpPr/>
          <p:nvPr/>
        </p:nvSpPr>
        <p:spPr>
          <a:xfrm>
            <a:off x="9564624" y="2898648"/>
            <a:ext cx="256032" cy="274320"/>
          </a:xfrm>
          <a:prstGeom prst="down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7799831" y="3218688"/>
            <a:ext cx="3785616" cy="91440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9" name="Picture 15388" descr="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79" y="3474720"/>
            <a:ext cx="411480" cy="411480"/>
          </a:xfrm>
          <a:prstGeom prst="rect">
            <a:avLst/>
          </a:prstGeom>
        </p:spPr>
      </p:pic>
      <p:sp>
        <p:nvSpPr>
          <p:cNvPr id="15390" name="TextBox 15389"/>
          <p:cNvSpPr txBox="1"/>
          <p:nvPr/>
        </p:nvSpPr>
        <p:spPr>
          <a:xfrm>
            <a:off x="8458200" y="3264408"/>
            <a:ext cx="310896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Predictive Risk Engine</a:t>
            </a:r>
          </a:p>
          <a:p>
            <a:pPr algn="l"/>
            <a:r>
              <a:rPr sz="850" b="0" i="0">
                <a:solidFill>
                  <a:srgbClr val="E3F2F1"/>
                </a:solidFill>
                <a:latin typeface="Calibri"/>
              </a:rPr>
              <a:t>Welfare Risk Index 0–100 · 7-day forecast · P(escalation) · exact SHAP drivers · ranked interventions</a:t>
            </a:r>
          </a:p>
        </p:txBody>
      </p:sp>
      <p:sp>
        <p:nvSpPr>
          <p:cNvPr id="15391" name="Down Arrow 15390"/>
          <p:cNvSpPr/>
          <p:nvPr/>
        </p:nvSpPr>
        <p:spPr>
          <a:xfrm>
            <a:off x="9564624" y="4197096"/>
            <a:ext cx="256032" cy="274320"/>
          </a:xfrm>
          <a:prstGeom prst="down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ounded Rectangle 15391"/>
          <p:cNvSpPr/>
          <p:nvPr/>
        </p:nvSpPr>
        <p:spPr>
          <a:xfrm>
            <a:off x="7799831" y="4517136"/>
            <a:ext cx="182422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3" name="Picture 15392" descr="user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9559" y="4818888"/>
            <a:ext cx="310896" cy="310896"/>
          </a:xfrm>
          <a:prstGeom prst="rect">
            <a:avLst/>
          </a:prstGeom>
        </p:spPr>
      </p:pic>
      <p:sp>
        <p:nvSpPr>
          <p:cNvPr id="15394" name="TextBox 15393"/>
          <p:cNvSpPr txBox="1"/>
          <p:nvPr/>
        </p:nvSpPr>
        <p:spPr>
          <a:xfrm>
            <a:off x="8257031" y="4553712"/>
            <a:ext cx="1321308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Welfare Officer</a:t>
            </a:r>
          </a:p>
          <a:p>
            <a:pPr algn="l"/>
            <a:r>
              <a:rPr sz="800" b="0" i="0">
                <a:solidFill>
                  <a:srgbClr val="C9D3E6"/>
                </a:solidFill>
                <a:latin typeface="Calibri"/>
              </a:rPr>
              <a:t>ranked cases · evidenced actions · what-if simulator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9761220" y="4517136"/>
            <a:ext cx="182422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6" name="Picture 15395" descr="cha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0948" y="4818888"/>
            <a:ext cx="310896" cy="310896"/>
          </a:xfrm>
          <a:prstGeom prst="rect">
            <a:avLst/>
          </a:prstGeom>
        </p:spPr>
      </p:pic>
      <p:sp>
        <p:nvSpPr>
          <p:cNvPr id="15397" name="TextBox 15396"/>
          <p:cNvSpPr txBox="1"/>
          <p:nvPr/>
        </p:nvSpPr>
        <p:spPr>
          <a:xfrm>
            <a:off x="10218420" y="4553712"/>
            <a:ext cx="1321308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Command / HQ</a:t>
            </a:r>
          </a:p>
          <a:p>
            <a:pPr algn="l"/>
            <a:r>
              <a:rPr sz="800" b="0" i="0">
                <a:solidFill>
                  <a:srgbClr val="C9D3E6"/>
                </a:solidFill>
                <a:latin typeface="Calibri"/>
              </a:rPr>
              <a:t>unit aggregates &amp; escalation velocity — pseudonyms only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7799831" y="5541264"/>
            <a:ext cx="3785616" cy="658368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9" name="Picture 15398" descr="shie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7848" y="5715000"/>
            <a:ext cx="310896" cy="310896"/>
          </a:xfrm>
          <a:prstGeom prst="rect">
            <a:avLst/>
          </a:prstGeom>
        </p:spPr>
      </p:pic>
      <p:sp>
        <p:nvSpPr>
          <p:cNvPr id="15400" name="TextBox 15399"/>
          <p:cNvSpPr txBox="1"/>
          <p:nvPr/>
        </p:nvSpPr>
        <p:spPr>
          <a:xfrm>
            <a:off x="8321040" y="5559552"/>
            <a:ext cx="324612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E8772E"/>
                </a:solidFill>
                <a:latin typeface="Calibri"/>
              </a:rPr>
              <a:t>Privacy Shield</a:t>
            </a:r>
          </a:p>
          <a:p>
            <a:pPr algn="l"/>
            <a:r>
              <a:rPr sz="800" b="0" i="0">
                <a:solidFill>
                  <a:srgbClr val="E3F2F1"/>
                </a:solidFill>
                <a:latin typeface="Calibri"/>
              </a:rPr>
              <a:t>consent ledger · HMAC pseudonyms · k = 10 suppression · RBAC · hash-chained audit · DPDP Act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828800" y="1005840"/>
            <a:ext cx="85313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0" i="1">
                <a:solidFill>
                  <a:srgbClr val="5B6573"/>
                </a:solidFill>
                <a:latin typeface="Calibri"/>
              </a:rPr>
              <a:t>System architecture &amp; technology stack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2926080" y="1874519"/>
            <a:ext cx="1005840" cy="878528"/>
          </a:xfrm>
          <a:prstGeom prst="line">
            <a:avLst/>
          </a:prstGeom>
          <a:ln w="15875">
            <a:solidFill>
              <a:srgbClr val="2E6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Oval 17411"/>
          <p:cNvSpPr/>
          <p:nvPr/>
        </p:nvSpPr>
        <p:spPr>
          <a:xfrm>
            <a:off x="2880360" y="1828799"/>
            <a:ext cx="91440" cy="91440"/>
          </a:xfrm>
          <a:prstGeom prst="ellipse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13" name="Connector 17412"/>
          <p:cNvCxnSpPr/>
          <p:nvPr/>
        </p:nvCxnSpPr>
        <p:spPr>
          <a:xfrm>
            <a:off x="2926080" y="3337560"/>
            <a:ext cx="457200" cy="365760"/>
          </a:xfrm>
          <a:prstGeom prst="line">
            <a:avLst/>
          </a:prstGeom>
          <a:ln w="15875">
            <a:solidFill>
              <a:srgbClr val="E87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Oval 17413"/>
          <p:cNvSpPr/>
          <p:nvPr/>
        </p:nvSpPr>
        <p:spPr>
          <a:xfrm>
            <a:off x="2880360" y="3291840"/>
            <a:ext cx="91440" cy="914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15" name="Connector 17414"/>
          <p:cNvCxnSpPr/>
          <p:nvPr/>
        </p:nvCxnSpPr>
        <p:spPr>
          <a:xfrm flipV="1">
            <a:off x="2926080" y="4653592"/>
            <a:ext cx="1005840" cy="147008"/>
          </a:xfrm>
          <a:prstGeom prst="line">
            <a:avLst/>
          </a:prstGeom>
          <a:ln w="15875">
            <a:solidFill>
              <a:srgbClr val="0E7C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Oval 17415"/>
          <p:cNvSpPr/>
          <p:nvPr/>
        </p:nvSpPr>
        <p:spPr>
          <a:xfrm>
            <a:off x="2880360" y="4754880"/>
            <a:ext cx="91440" cy="914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17" name="Connector 17416"/>
          <p:cNvCxnSpPr/>
          <p:nvPr/>
        </p:nvCxnSpPr>
        <p:spPr>
          <a:xfrm flipH="1">
            <a:off x="5029200" y="1874519"/>
            <a:ext cx="1005840" cy="878528"/>
          </a:xfrm>
          <a:prstGeom prst="line">
            <a:avLst/>
          </a:prstGeom>
          <a:ln w="15875">
            <a:solidFill>
              <a:srgbClr val="3D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Oval 17417"/>
          <p:cNvSpPr/>
          <p:nvPr/>
        </p:nvSpPr>
        <p:spPr>
          <a:xfrm>
            <a:off x="5989320" y="1828799"/>
            <a:ext cx="91440" cy="91440"/>
          </a:xfrm>
          <a:prstGeom prst="ellipse">
            <a:avLst/>
          </a:prstGeom>
          <a:solidFill>
            <a:srgbClr val="3DA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19" name="Connector 17418"/>
          <p:cNvCxnSpPr/>
          <p:nvPr/>
        </p:nvCxnSpPr>
        <p:spPr>
          <a:xfrm flipH="1">
            <a:off x="5577840" y="3337560"/>
            <a:ext cx="457200" cy="365760"/>
          </a:xfrm>
          <a:prstGeom prst="line">
            <a:avLst/>
          </a:prstGeom>
          <a:ln w="15875">
            <a:solidFill>
              <a:srgbClr val="7B4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Oval 17419"/>
          <p:cNvSpPr/>
          <p:nvPr/>
        </p:nvSpPr>
        <p:spPr>
          <a:xfrm>
            <a:off x="5989320" y="3291840"/>
            <a:ext cx="91440" cy="91440"/>
          </a:xfrm>
          <a:prstGeom prst="ellipse">
            <a:avLst/>
          </a:prstGeom>
          <a:solidFill>
            <a:srgbClr val="7B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21" name="Connector 17420"/>
          <p:cNvCxnSpPr/>
          <p:nvPr/>
        </p:nvCxnSpPr>
        <p:spPr>
          <a:xfrm flipH="1" flipV="1">
            <a:off x="5029200" y="4653592"/>
            <a:ext cx="1005840" cy="147008"/>
          </a:xfrm>
          <a:prstGeom prst="line">
            <a:avLst/>
          </a:prstGeom>
          <a:ln w="15875">
            <a:solidFill>
              <a:srgbClr val="D94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Oval 17421"/>
          <p:cNvSpPr/>
          <p:nvPr/>
        </p:nvSpPr>
        <p:spPr>
          <a:xfrm>
            <a:off x="5989320" y="4754880"/>
            <a:ext cx="91440" cy="91440"/>
          </a:xfrm>
          <a:prstGeom prst="ellipse">
            <a:avLst/>
          </a:prstGeom>
          <a:solidFill>
            <a:srgbClr val="D9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3" name="Picture 17422" descr="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331720"/>
            <a:ext cx="2743200" cy="274320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3703320" y="3337560"/>
            <a:ext cx="155448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B2A4A"/>
                </a:solidFill>
                <a:latin typeface="Calibri"/>
              </a:rPr>
              <a:t>SYSTEM
ARCHITECTURE</a:t>
            </a:r>
          </a:p>
        </p:txBody>
      </p:sp>
      <p:sp>
        <p:nvSpPr>
          <p:cNvPr id="17425" name="Oval 17424"/>
          <p:cNvSpPr/>
          <p:nvPr/>
        </p:nvSpPr>
        <p:spPr>
          <a:xfrm>
            <a:off x="3630168" y="245129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3685031" y="2506159"/>
            <a:ext cx="493776" cy="493776"/>
          </a:xfrm>
          <a:prstGeom prst="ellipse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7" name="Picture 17426" descr="sp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476" y="2629603"/>
            <a:ext cx="246888" cy="246888"/>
          </a:xfrm>
          <a:prstGeom prst="rect">
            <a:avLst/>
          </a:prstGeom>
        </p:spPr>
      </p:pic>
      <p:sp>
        <p:nvSpPr>
          <p:cNvPr id="17428" name="Oval 17427"/>
          <p:cNvSpPr/>
          <p:nvPr/>
        </p:nvSpPr>
        <p:spPr>
          <a:xfrm>
            <a:off x="3081528" y="3401568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Oval 17428"/>
          <p:cNvSpPr/>
          <p:nvPr/>
        </p:nvSpPr>
        <p:spPr>
          <a:xfrm>
            <a:off x="3136392" y="3456432"/>
            <a:ext cx="493776" cy="493776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sp_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9836" y="3579876"/>
            <a:ext cx="246888" cy="246888"/>
          </a:xfrm>
          <a:prstGeom prst="rect">
            <a:avLst/>
          </a:prstGeom>
        </p:spPr>
      </p:pic>
      <p:sp>
        <p:nvSpPr>
          <p:cNvPr id="17431" name="Oval 17430"/>
          <p:cNvSpPr/>
          <p:nvPr/>
        </p:nvSpPr>
        <p:spPr>
          <a:xfrm>
            <a:off x="3630168" y="435184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3685032" y="4406704"/>
            <a:ext cx="493776" cy="49377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8476" y="4530148"/>
            <a:ext cx="246888" cy="246888"/>
          </a:xfrm>
          <a:prstGeom prst="rect">
            <a:avLst/>
          </a:prstGeom>
        </p:spPr>
      </p:pic>
      <p:sp>
        <p:nvSpPr>
          <p:cNvPr id="17434" name="Oval 17433"/>
          <p:cNvSpPr/>
          <p:nvPr/>
        </p:nvSpPr>
        <p:spPr>
          <a:xfrm>
            <a:off x="4727448" y="245129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Oval 17434"/>
          <p:cNvSpPr/>
          <p:nvPr/>
        </p:nvSpPr>
        <p:spPr>
          <a:xfrm>
            <a:off x="4782312" y="2506159"/>
            <a:ext cx="493776" cy="493776"/>
          </a:xfrm>
          <a:prstGeom prst="ellipse">
            <a:avLst/>
          </a:prstGeom>
          <a:solidFill>
            <a:srgbClr val="3DA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5756" y="2629603"/>
            <a:ext cx="246888" cy="246888"/>
          </a:xfrm>
          <a:prstGeom prst="rect">
            <a:avLst/>
          </a:prstGeom>
        </p:spPr>
      </p:pic>
      <p:sp>
        <p:nvSpPr>
          <p:cNvPr id="17437" name="Oval 17436"/>
          <p:cNvSpPr/>
          <p:nvPr/>
        </p:nvSpPr>
        <p:spPr>
          <a:xfrm>
            <a:off x="5276088" y="3401568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Oval 17437"/>
          <p:cNvSpPr/>
          <p:nvPr/>
        </p:nvSpPr>
        <p:spPr>
          <a:xfrm>
            <a:off x="5330952" y="3456432"/>
            <a:ext cx="493776" cy="493776"/>
          </a:xfrm>
          <a:prstGeom prst="ellipse">
            <a:avLst/>
          </a:prstGeom>
          <a:solidFill>
            <a:srgbClr val="7B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9" name="Picture 17438" descr="sp_sh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4396" y="3579876"/>
            <a:ext cx="246888" cy="246888"/>
          </a:xfrm>
          <a:prstGeom prst="rect">
            <a:avLst/>
          </a:prstGeom>
        </p:spPr>
      </p:pic>
      <p:sp>
        <p:nvSpPr>
          <p:cNvPr id="17440" name="Oval 17439"/>
          <p:cNvSpPr/>
          <p:nvPr/>
        </p:nvSpPr>
        <p:spPr>
          <a:xfrm>
            <a:off x="4727448" y="435184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Oval 17440"/>
          <p:cNvSpPr/>
          <p:nvPr/>
        </p:nvSpPr>
        <p:spPr>
          <a:xfrm>
            <a:off x="4782312" y="4406704"/>
            <a:ext cx="493776" cy="493776"/>
          </a:xfrm>
          <a:prstGeom prst="ellipse">
            <a:avLst/>
          </a:prstGeom>
          <a:solidFill>
            <a:srgbClr val="D9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sp_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5756" y="4530148"/>
            <a:ext cx="246888" cy="246888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365760" y="1371600"/>
            <a:ext cx="251460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2E6FD9"/>
                </a:solidFill>
                <a:latin typeface="Calibri"/>
              </a:rPr>
              <a:t>1</a:t>
            </a:r>
          </a:p>
          <a:p>
            <a:pPr algn="r">
              <a:spcAft>
                <a:spcPts val="2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Frontend &amp; Role-gated UI</a:t>
            </a:r>
          </a:p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React 19 + Vite dashboard — 9 screens: daily check-in, my welfare, casework, force view, what-if simulator, model card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365760" y="2834640"/>
            <a:ext cx="251460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E8772E"/>
                </a:solidFill>
                <a:latin typeface="Calibri"/>
              </a:rPr>
              <a:t>2</a:t>
            </a:r>
          </a:p>
          <a:p>
            <a:pPr algn="r">
              <a:spcAft>
                <a:spcPts val="2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Secure API &amp; Identity</a:t>
            </a:r>
          </a:p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Express 4 on Node 22; scrypt + HMAC-JWT; RBAC for personnel / welfare officer / command / admin; per-route rate limits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65760" y="4297680"/>
            <a:ext cx="251460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0E7C7B"/>
                </a:solidFill>
                <a:latin typeface="Calibri"/>
              </a:rPr>
              <a:t>3</a:t>
            </a:r>
          </a:p>
          <a:p>
            <a:pPr algn="r">
              <a:spcAft>
                <a:spcPts val="2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ML Risk Engine</a:t>
            </a:r>
          </a:p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5 gradient-boosted ensembles on 25 features → Welfare Risk Index 0–100, 7-day forecast, P(escalation in 14 d)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035040" y="1371600"/>
            <a:ext cx="260604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3DA35D"/>
                </a:solidFill>
                <a:latin typeface="Calibri"/>
              </a:rPr>
              <a:t>4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Data &amp; Consent Layer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node:sqlite, 11 tables; append-only consent ledger (DPDP); HRMS import + 5-question daily check-in + opt-in wearables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035040" y="2834640"/>
            <a:ext cx="260604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7B4FBF"/>
                </a:solidFill>
                <a:latin typeface="Calibri"/>
              </a:rPr>
              <a:t>5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Explainability &amp; Escalation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Exact TreeSHAP on every score (~320 µs); 80 % prediction interval; 4 documented rules open a case — not a black box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035040" y="4297680"/>
            <a:ext cx="260604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D9463E"/>
                </a:solidFill>
                <a:latin typeface="Calibri"/>
              </a:rPr>
              <a:t>6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Privacy, Audit &amp; Alerts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HMAC pseudonyms; k = 10 suppression; SHA-256 hash-chained audit; live SSE alerts to the assigned welfare officer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365760" y="5559552"/>
            <a:ext cx="8229600" cy="658368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457200" y="5577840"/>
            <a:ext cx="201168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B2A4A"/>
                </a:solidFill>
                <a:latin typeface="Calibri"/>
              </a:rPr>
              <a:t>VERIFIED MODEL</a:t>
            </a:r>
          </a:p>
          <a:p>
            <a:pPr algn="l"/>
            <a:r>
              <a:rPr sz="750" b="0" i="0">
                <a:solidFill>
                  <a:srgbClr val="5B6573"/>
                </a:solidFill>
                <a:latin typeface="Calibri"/>
              </a:rPr>
              <a:t>held-out, split by individual · npm run ml:verify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2468880" y="5577840"/>
            <a:ext cx="1005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3.87</a:t>
            </a:r>
          </a:p>
          <a:p>
            <a:pPr algn="ctr"/>
            <a:r>
              <a:rPr sz="750" b="0" i="0">
                <a:solidFill>
                  <a:srgbClr val="5B6573"/>
                </a:solidFill>
                <a:latin typeface="Calibri"/>
              </a:rPr>
              <a:t>WRI MAE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3474720" y="5577840"/>
            <a:ext cx="1005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90.3 %</a:t>
            </a:r>
          </a:p>
          <a:p>
            <a:pPr algn="ctr"/>
            <a:r>
              <a:rPr sz="750" b="0" i="0">
                <a:solidFill>
                  <a:srgbClr val="5B6573"/>
                </a:solidFill>
                <a:latin typeface="Calibri"/>
              </a:rPr>
              <a:t>band accuracy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4480560" y="5577840"/>
            <a:ext cx="1005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0.812</a:t>
            </a:r>
          </a:p>
          <a:p>
            <a:pPr algn="ctr"/>
            <a:r>
              <a:rPr sz="750" b="0" i="0">
                <a:solidFill>
                  <a:srgbClr val="5B6573"/>
                </a:solidFill>
                <a:latin typeface="Calibri"/>
              </a:rPr>
              <a:t>escalation ROC-AUC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5486400" y="5577840"/>
            <a:ext cx="1005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0.78</a:t>
            </a:r>
          </a:p>
          <a:p>
            <a:pPr algn="ctr"/>
            <a:r>
              <a:rPr sz="750" b="0" i="0">
                <a:solidFill>
                  <a:srgbClr val="5B6573"/>
                </a:solidFill>
                <a:latin typeface="Calibri"/>
              </a:rPr>
              <a:t>recall (F2-tuned)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6492240" y="5577840"/>
            <a:ext cx="1005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79.5 %</a:t>
            </a:r>
          </a:p>
          <a:p>
            <a:pPr algn="ctr"/>
            <a:r>
              <a:rPr sz="750" b="0" i="0">
                <a:solidFill>
                  <a:srgbClr val="5B6573"/>
                </a:solidFill>
                <a:latin typeface="Calibri"/>
              </a:rPr>
              <a:t>80 % PI coverage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7498079" y="5577840"/>
            <a:ext cx="1005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≤ 1e-13</a:t>
            </a:r>
          </a:p>
          <a:p>
            <a:pPr algn="ctr"/>
            <a:r>
              <a:rPr sz="750" b="0" i="0">
                <a:solidFill>
                  <a:srgbClr val="5B6573"/>
                </a:solidFill>
                <a:latin typeface="Calibri"/>
              </a:rPr>
              <a:t>TS ↔ Python parity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823960" y="1188720"/>
            <a:ext cx="3017520" cy="50292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8823960" y="1261872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SAHARA – Core Technology Flow</a:t>
            </a:r>
          </a:p>
        </p:txBody>
      </p:sp>
      <p:pic>
        <p:nvPicPr>
          <p:cNvPr id="17459" name="Picture 17458" descr="ly_fro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3688" y="1737360"/>
            <a:ext cx="201168" cy="201168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9171432" y="1600200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Frontend</a:t>
            </a:r>
          </a:p>
        </p:txBody>
      </p:sp>
      <p:pic>
        <p:nvPicPr>
          <p:cNvPr id="17461" name="Picture 17460" descr="b_reac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9840" y="1664208"/>
            <a:ext cx="164592" cy="164592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10360152" y="1627632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React 19 + TypeScript 5.8</a:t>
            </a:r>
          </a:p>
        </p:txBody>
      </p:sp>
      <p:pic>
        <p:nvPicPr>
          <p:cNvPr id="17463" name="Picture 17462" descr="b_v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9840" y="1892807"/>
            <a:ext cx="164592" cy="164592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10360152" y="185623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Vite 6 · Tailwind CSS 4</a:t>
            </a:r>
          </a:p>
        </p:txBody>
      </p:sp>
      <p:cxnSp>
        <p:nvCxnSpPr>
          <p:cNvPr id="17465" name="Connector 17464"/>
          <p:cNvCxnSpPr/>
          <p:nvPr/>
        </p:nvCxnSpPr>
        <p:spPr>
          <a:xfrm>
            <a:off x="8933688" y="2084831"/>
            <a:ext cx="2798064" cy="0"/>
          </a:xfrm>
          <a:prstGeom prst="line">
            <a:avLst/>
          </a:prstGeom>
          <a:ln w="635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66" name="Picture 17465" descr="ly_char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33688" y="2240279"/>
            <a:ext cx="201168" cy="201168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9171432" y="2103120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UI &amp; Charts</a:t>
            </a:r>
          </a:p>
        </p:txBody>
      </p:sp>
      <p:pic>
        <p:nvPicPr>
          <p:cNvPr id="17468" name="Picture 17467" descr="b_frame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49840" y="2167127"/>
            <a:ext cx="164592" cy="164592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10360152" y="213055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Motion 12 (reduced-motion aware)</a:t>
            </a:r>
          </a:p>
        </p:txBody>
      </p:sp>
      <p:pic>
        <p:nvPicPr>
          <p:cNvPr id="17470" name="Picture 17469" descr="b_char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49840" y="2395727"/>
            <a:ext cx="164592" cy="164592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10360152" y="235915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Recharts 3 · CVD-safe palette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8933688" y="2587751"/>
            <a:ext cx="2798064" cy="0"/>
          </a:xfrm>
          <a:prstGeom prst="line">
            <a:avLst/>
          </a:prstGeom>
          <a:ln w="635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73" name="Picture 17472" descr="ly_bac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33688" y="2743199"/>
            <a:ext cx="201168" cy="201168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9171432" y="2606039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Backend</a:t>
            </a:r>
          </a:p>
        </p:txBody>
      </p:sp>
      <p:pic>
        <p:nvPicPr>
          <p:cNvPr id="17475" name="Picture 17474" descr="b_nod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49840" y="2670047"/>
            <a:ext cx="164592" cy="164592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10360152" y="263347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Node 22 · Express 4</a:t>
            </a:r>
          </a:p>
        </p:txBody>
      </p:sp>
      <p:pic>
        <p:nvPicPr>
          <p:cNvPr id="17477" name="Picture 17476" descr="b_ss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49840" y="2898647"/>
            <a:ext cx="164592" cy="164592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10360152" y="286207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SSE live events · rate limits</a:t>
            </a:r>
          </a:p>
        </p:txBody>
      </p:sp>
      <p:cxnSp>
        <p:nvCxnSpPr>
          <p:cNvPr id="17479" name="Connector 17478"/>
          <p:cNvCxnSpPr/>
          <p:nvPr/>
        </p:nvCxnSpPr>
        <p:spPr>
          <a:xfrm>
            <a:off x="8933688" y="3090671"/>
            <a:ext cx="2798064" cy="0"/>
          </a:xfrm>
          <a:prstGeom prst="line">
            <a:avLst/>
          </a:prstGeom>
          <a:ln w="635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80" name="Picture 17479" descr="ly_trai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33688" y="3246119"/>
            <a:ext cx="201168" cy="201168"/>
          </a:xfrm>
          <a:prstGeom prst="rect">
            <a:avLst/>
          </a:prstGeom>
        </p:spPr>
      </p:pic>
      <p:sp>
        <p:nvSpPr>
          <p:cNvPr id="17481" name="TextBox 17480"/>
          <p:cNvSpPr txBox="1"/>
          <p:nvPr/>
        </p:nvSpPr>
        <p:spPr>
          <a:xfrm>
            <a:off x="9171432" y="3108959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ML Training</a:t>
            </a:r>
          </a:p>
        </p:txBody>
      </p:sp>
      <p:pic>
        <p:nvPicPr>
          <p:cNvPr id="17482" name="Picture 17481" descr="b_pyth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49840" y="3172967"/>
            <a:ext cx="164592" cy="164592"/>
          </a:xfrm>
          <a:prstGeom prst="rect">
            <a:avLst/>
          </a:prstGeom>
        </p:spPr>
      </p:pic>
      <p:sp>
        <p:nvSpPr>
          <p:cNvPr id="17483" name="TextBox 17482"/>
          <p:cNvSpPr txBox="1"/>
          <p:nvPr/>
        </p:nvSpPr>
        <p:spPr>
          <a:xfrm>
            <a:off x="10360152" y="313639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Python · scikit-learn</a:t>
            </a:r>
          </a:p>
        </p:txBody>
      </p:sp>
      <p:pic>
        <p:nvPicPr>
          <p:cNvPr id="17484" name="Picture 17483" descr="b_panda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49840" y="3401567"/>
            <a:ext cx="164592" cy="164592"/>
          </a:xfrm>
          <a:prstGeom prst="rect">
            <a:avLst/>
          </a:prstGeom>
        </p:spPr>
      </p:pic>
      <p:sp>
        <p:nvSpPr>
          <p:cNvPr id="17485" name="TextBox 17484"/>
          <p:cNvSpPr txBox="1"/>
          <p:nvPr/>
        </p:nvSpPr>
        <p:spPr>
          <a:xfrm>
            <a:off x="10360152" y="336499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pandas · numpy (offline only)</a:t>
            </a:r>
          </a:p>
        </p:txBody>
      </p:sp>
      <p:cxnSp>
        <p:nvCxnSpPr>
          <p:cNvPr id="17486" name="Connector 17485"/>
          <p:cNvCxnSpPr/>
          <p:nvPr/>
        </p:nvCxnSpPr>
        <p:spPr>
          <a:xfrm>
            <a:off x="8933688" y="3593591"/>
            <a:ext cx="2798064" cy="0"/>
          </a:xfrm>
          <a:prstGeom prst="line">
            <a:avLst/>
          </a:prstGeom>
          <a:ln w="635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87" name="Picture 17486" descr="ly_runtim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33688" y="3749039"/>
            <a:ext cx="201168" cy="201168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9171432" y="3611879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ML Runtime</a:t>
            </a:r>
          </a:p>
        </p:txBody>
      </p:sp>
      <p:pic>
        <p:nvPicPr>
          <p:cNvPr id="17489" name="Picture 17488" descr="b_t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49840" y="3675887"/>
            <a:ext cx="164592" cy="164592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10360152" y="363931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TypeScript GBM inference</a:t>
            </a:r>
          </a:p>
        </p:txBody>
      </p:sp>
      <p:pic>
        <p:nvPicPr>
          <p:cNvPr id="17491" name="Picture 17490" descr="b_shap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49840" y="3904487"/>
            <a:ext cx="164592" cy="164592"/>
          </a:xfrm>
          <a:prstGeom prst="rect">
            <a:avLst/>
          </a:prstGeom>
        </p:spPr>
      </p:pic>
      <p:sp>
        <p:nvSpPr>
          <p:cNvPr id="17492" name="TextBox 17491"/>
          <p:cNvSpPr txBox="1"/>
          <p:nvPr/>
        </p:nvSpPr>
        <p:spPr>
          <a:xfrm>
            <a:off x="10360152" y="386791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Exact TreeSHAP ≈ 320 µs</a:t>
            </a:r>
          </a:p>
        </p:txBody>
      </p:sp>
      <p:cxnSp>
        <p:nvCxnSpPr>
          <p:cNvPr id="17493" name="Connector 17492"/>
          <p:cNvCxnSpPr/>
          <p:nvPr/>
        </p:nvCxnSpPr>
        <p:spPr>
          <a:xfrm>
            <a:off x="8933688" y="4096511"/>
            <a:ext cx="2798064" cy="0"/>
          </a:xfrm>
          <a:prstGeom prst="line">
            <a:avLst/>
          </a:prstGeom>
          <a:ln w="635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94" name="Picture 17493" descr="ly_db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33688" y="4251959"/>
            <a:ext cx="201168" cy="201168"/>
          </a:xfrm>
          <a:prstGeom prst="rect">
            <a:avLst/>
          </a:prstGeom>
        </p:spPr>
      </p:pic>
      <p:sp>
        <p:nvSpPr>
          <p:cNvPr id="17495" name="TextBox 17494"/>
          <p:cNvSpPr txBox="1"/>
          <p:nvPr/>
        </p:nvSpPr>
        <p:spPr>
          <a:xfrm>
            <a:off x="9171432" y="4114799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Database</a:t>
            </a:r>
          </a:p>
        </p:txBody>
      </p:sp>
      <p:pic>
        <p:nvPicPr>
          <p:cNvPr id="17496" name="Picture 17495" descr="b_sqlit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9840" y="4178807"/>
            <a:ext cx="164592" cy="164592"/>
          </a:xfrm>
          <a:prstGeom prst="rect">
            <a:avLst/>
          </a:prstGeom>
        </p:spPr>
      </p:pic>
      <p:sp>
        <p:nvSpPr>
          <p:cNvPr id="17497" name="TextBox 17496"/>
          <p:cNvSpPr txBox="1"/>
          <p:nvPr/>
        </p:nvSpPr>
        <p:spPr>
          <a:xfrm>
            <a:off x="10360152" y="414223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node:sqlite (WAL) · 11 tables</a:t>
            </a:r>
          </a:p>
        </p:txBody>
      </p:sp>
      <p:pic>
        <p:nvPicPr>
          <p:cNvPr id="17498" name="Picture 17497" descr="b_hash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149840" y="4407407"/>
            <a:ext cx="164592" cy="164592"/>
          </a:xfrm>
          <a:prstGeom prst="rect">
            <a:avLst/>
          </a:prstGeom>
        </p:spPr>
      </p:pic>
      <p:sp>
        <p:nvSpPr>
          <p:cNvPr id="17499" name="TextBox 17498"/>
          <p:cNvSpPr txBox="1"/>
          <p:nvPr/>
        </p:nvSpPr>
        <p:spPr>
          <a:xfrm>
            <a:off x="10360152" y="437083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SHA-256 hash-chained audit</a:t>
            </a:r>
          </a:p>
        </p:txBody>
      </p:sp>
      <p:cxnSp>
        <p:nvCxnSpPr>
          <p:cNvPr id="17500" name="Connector 17499"/>
          <p:cNvCxnSpPr/>
          <p:nvPr/>
        </p:nvCxnSpPr>
        <p:spPr>
          <a:xfrm>
            <a:off x="8933688" y="4599431"/>
            <a:ext cx="2798064" cy="0"/>
          </a:xfrm>
          <a:prstGeom prst="line">
            <a:avLst/>
          </a:prstGeom>
          <a:ln w="635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01" name="Picture 17500" descr="ly_sec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33688" y="4754879"/>
            <a:ext cx="201168" cy="201168"/>
          </a:xfrm>
          <a:prstGeom prst="rect">
            <a:avLst/>
          </a:prstGeom>
        </p:spPr>
      </p:pic>
      <p:sp>
        <p:nvSpPr>
          <p:cNvPr id="17502" name="TextBox 17501"/>
          <p:cNvSpPr txBox="1"/>
          <p:nvPr/>
        </p:nvSpPr>
        <p:spPr>
          <a:xfrm>
            <a:off x="9171432" y="4617719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Security</a:t>
            </a:r>
          </a:p>
        </p:txBody>
      </p:sp>
      <p:pic>
        <p:nvPicPr>
          <p:cNvPr id="17503" name="Picture 17502" descr="b_jwt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49840" y="4681727"/>
            <a:ext cx="164592" cy="164592"/>
          </a:xfrm>
          <a:prstGeom prst="rect">
            <a:avLst/>
          </a:prstGeom>
        </p:spPr>
      </p:pic>
      <p:sp>
        <p:nvSpPr>
          <p:cNvPr id="17504" name="TextBox 17503"/>
          <p:cNvSpPr txBox="1"/>
          <p:nvPr/>
        </p:nvSpPr>
        <p:spPr>
          <a:xfrm>
            <a:off x="10360152" y="464515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scrypt · HMAC-JWT · RBAC</a:t>
            </a:r>
          </a:p>
        </p:txBody>
      </p:sp>
      <p:pic>
        <p:nvPicPr>
          <p:cNvPr id="17505" name="Picture 17504" descr="b_key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149840" y="4910327"/>
            <a:ext cx="164592" cy="164592"/>
          </a:xfrm>
          <a:prstGeom prst="rect">
            <a:avLst/>
          </a:prstGeom>
        </p:spPr>
      </p:pic>
      <p:sp>
        <p:nvSpPr>
          <p:cNvPr id="17506" name="TextBox 17505"/>
          <p:cNvSpPr txBox="1"/>
          <p:nvPr/>
        </p:nvSpPr>
        <p:spPr>
          <a:xfrm>
            <a:off x="10360152" y="487375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HMAC pseudonyms · k = 10</a:t>
            </a:r>
          </a:p>
        </p:txBody>
      </p:sp>
      <p:cxnSp>
        <p:nvCxnSpPr>
          <p:cNvPr id="17507" name="Connector 17506"/>
          <p:cNvCxnSpPr/>
          <p:nvPr/>
        </p:nvCxnSpPr>
        <p:spPr>
          <a:xfrm>
            <a:off x="8933688" y="5102351"/>
            <a:ext cx="2798064" cy="0"/>
          </a:xfrm>
          <a:prstGeom prst="line">
            <a:avLst/>
          </a:prstGeom>
          <a:ln w="635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08" name="Picture 17507" descr="ly_llm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933688" y="5257799"/>
            <a:ext cx="201168" cy="201168"/>
          </a:xfrm>
          <a:prstGeom prst="rect">
            <a:avLst/>
          </a:prstGeom>
        </p:spPr>
      </p:pic>
      <p:sp>
        <p:nvSpPr>
          <p:cNvPr id="17509" name="TextBox 17508"/>
          <p:cNvSpPr txBox="1"/>
          <p:nvPr/>
        </p:nvSpPr>
        <p:spPr>
          <a:xfrm>
            <a:off x="9171432" y="5120639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LLM (optional)</a:t>
            </a:r>
          </a:p>
        </p:txBody>
      </p:sp>
      <p:pic>
        <p:nvPicPr>
          <p:cNvPr id="17510" name="Picture 17509" descr="b_gemini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149840" y="5280659"/>
            <a:ext cx="164592" cy="164592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10360152" y="5244083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Gemini 2.0 Flash over SOP RAG</a:t>
            </a:r>
          </a:p>
        </p:txBody>
      </p:sp>
      <p:cxnSp>
        <p:nvCxnSpPr>
          <p:cNvPr id="17512" name="Connector 17511"/>
          <p:cNvCxnSpPr/>
          <p:nvPr/>
        </p:nvCxnSpPr>
        <p:spPr>
          <a:xfrm>
            <a:off x="8933688" y="5605271"/>
            <a:ext cx="2798064" cy="0"/>
          </a:xfrm>
          <a:prstGeom prst="line">
            <a:avLst/>
          </a:prstGeom>
          <a:ln w="635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13" name="Picture 17512" descr="ly_deploy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33688" y="5760719"/>
            <a:ext cx="201168" cy="201168"/>
          </a:xfrm>
          <a:prstGeom prst="rect">
            <a:avLst/>
          </a:prstGeom>
        </p:spPr>
      </p:pic>
      <p:sp>
        <p:nvSpPr>
          <p:cNvPr id="17514" name="TextBox 17513"/>
          <p:cNvSpPr txBox="1"/>
          <p:nvPr/>
        </p:nvSpPr>
        <p:spPr>
          <a:xfrm>
            <a:off x="9171432" y="5623559"/>
            <a:ext cx="9601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2A4A"/>
                </a:solidFill>
                <a:latin typeface="Calibri"/>
              </a:rPr>
              <a:t>Build &amp; Deploy</a:t>
            </a:r>
          </a:p>
        </p:txBody>
      </p:sp>
      <p:pic>
        <p:nvPicPr>
          <p:cNvPr id="17515" name="Picture 17514" descr="b_esbuil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149840" y="5687567"/>
            <a:ext cx="164592" cy="164592"/>
          </a:xfrm>
          <a:prstGeom prst="rect">
            <a:avLst/>
          </a:prstGeom>
        </p:spPr>
      </p:pic>
      <p:sp>
        <p:nvSpPr>
          <p:cNvPr id="17516" name="TextBox 17515"/>
          <p:cNvSpPr txBox="1"/>
          <p:nvPr/>
        </p:nvSpPr>
        <p:spPr>
          <a:xfrm>
            <a:off x="10360152" y="565099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Vite + esbuild → one Node process</a:t>
            </a:r>
          </a:p>
        </p:txBody>
      </p:sp>
      <p:pic>
        <p:nvPicPr>
          <p:cNvPr id="17517" name="Picture 17516" descr="b_docker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149840" y="5916167"/>
            <a:ext cx="164592" cy="164592"/>
          </a:xfrm>
          <a:prstGeom prst="rect">
            <a:avLst/>
          </a:prstGeom>
        </p:spPr>
      </p:pic>
      <p:sp>
        <p:nvSpPr>
          <p:cNvPr id="17518" name="TextBox 17517"/>
          <p:cNvSpPr txBox="1"/>
          <p:nvPr/>
        </p:nvSpPr>
        <p:spPr>
          <a:xfrm>
            <a:off x="10360152" y="5879591"/>
            <a:ext cx="1417319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1F2933"/>
                </a:solidFill>
                <a:latin typeface="Calibri"/>
              </a:rPr>
              <a:t>Docker · on-prem / NIC MeghRaj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07008"/>
            <a:ext cx="2377440" cy="438912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16736"/>
            <a:ext cx="237744" cy="23774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804672" y="1207008"/>
            <a:ext cx="19202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700784"/>
            <a:ext cx="2377440" cy="2761488"/>
          </a:xfrm>
          <a:prstGeom prst="roundRect">
            <a:avLst>
              <a:gd name="adj" fmla="val 5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828800"/>
            <a:ext cx="146304" cy="146304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94944" y="1773936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Software-only — no new hardware; wearables strictly optional</a:t>
            </a:r>
          </a:p>
        </p:txBody>
      </p:sp>
      <p:pic>
        <p:nvPicPr>
          <p:cNvPr id="17416" name="Picture 17415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359152"/>
            <a:ext cx="146304" cy="14630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694944" y="2304288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Leave, duty &amp; transfer data already digitised in CAPF PIS / e-HRMS</a:t>
            </a:r>
          </a:p>
        </p:txBody>
      </p:sp>
      <p:pic>
        <p:nvPicPr>
          <p:cNvPr id="17418" name="Picture 17417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889504"/>
            <a:ext cx="146304" cy="14630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694944" y="2834640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Working prototype: real trained model (5 GBM ensembles, 25 features), 9 role-gated screens, end-to-end verified</a:t>
            </a:r>
          </a:p>
        </p:txBody>
      </p:sp>
      <p:pic>
        <p:nvPicPr>
          <p:cNvPr id="17420" name="Picture 17419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419856"/>
            <a:ext cx="146304" cy="14630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694944" y="3364992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Zero native dependencies — one npm run dev; no Python at runtime; SQLite → PostgreSQL swap when scaling</a:t>
            </a:r>
          </a:p>
        </p:txBody>
      </p:sp>
      <p:pic>
        <p:nvPicPr>
          <p:cNvPr id="17422" name="Picture 17421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50208"/>
            <a:ext cx="146304" cy="146304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94944" y="3895344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Aligned with MHA Task Force (2022) mandate on stress &amp; suicide prevention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880360" y="1207008"/>
            <a:ext cx="2377440" cy="438912"/>
          </a:xfrm>
          <a:prstGeom prst="roundRect">
            <a:avLst>
              <a:gd name="adj" fmla="val 15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war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1316736"/>
            <a:ext cx="237744" cy="23774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3319272" y="1207008"/>
            <a:ext cx="19202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Challenges &amp; Risks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2880360" y="1700784"/>
            <a:ext cx="2377440" cy="2761488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1828800"/>
            <a:ext cx="146304" cy="14630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3209544" y="1773936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Trust &amp; stigma — fear that a risk flag will affect career or posting</a:t>
            </a:r>
          </a:p>
        </p:txBody>
      </p:sp>
      <p:pic>
        <p:nvPicPr>
          <p:cNvPr id="17430" name="Picture 17429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2359152"/>
            <a:ext cx="146304" cy="14630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3209544" y="2304288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Cyber threats on highly sensitive psychological &amp; welfare data</a:t>
            </a:r>
          </a:p>
        </p:txBody>
      </p:sp>
      <p:pic>
        <p:nvPicPr>
          <p:cNvPr id="17432" name="Picture 17431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2889504"/>
            <a:ext cx="146304" cy="146304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3209544" y="2834640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False positives / negatives; cold-start with little labelled data</a:t>
            </a:r>
          </a:p>
        </p:txBody>
      </p:sp>
      <p:pic>
        <p:nvPicPr>
          <p:cNvPr id="17434" name="Picture 17433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3419856"/>
            <a:ext cx="146304" cy="146304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3209544" y="3364992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Low self-reporting in remote, low-connectivity deployments</a:t>
            </a:r>
          </a:p>
        </p:txBody>
      </p:sp>
      <p:pic>
        <p:nvPicPr>
          <p:cNvPr id="17436" name="Picture 17435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3950208"/>
            <a:ext cx="146304" cy="146304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3209544" y="3895344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Cultural &amp; linguistic diversity across forces and units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394960" y="1207008"/>
            <a:ext cx="2377440" cy="438912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9" name="Picture 17438" descr="tool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1316736"/>
            <a:ext cx="237744" cy="237744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5833872" y="1207008"/>
            <a:ext cx="19202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Mitigation Strategies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394960" y="1700784"/>
            <a:ext cx="2377440" cy="2761488"/>
          </a:xfrm>
          <a:prstGeom prst="roundRect">
            <a:avLst>
              <a:gd name="adj" fmla="val 5000"/>
            </a:avLst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1828800"/>
            <a:ext cx="146304" cy="14630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5724144" y="1773936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Welfare-only charter: no link to ACR/promotion; jawan can view &amp; contest own score</a:t>
            </a:r>
          </a:p>
        </p:txBody>
      </p:sp>
      <p:pic>
        <p:nvPicPr>
          <p:cNvPr id="17444" name="Picture 17443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2359152"/>
            <a:ext cx="146304" cy="146304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5724144" y="2304288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scrypt + HMAC-JWT, RBAC, HMAC pseudonyms, hash-chained audit, on-prem hosting, DPDP-compliant</a:t>
            </a:r>
          </a:p>
        </p:txBody>
      </p:sp>
      <p:pic>
        <p:nvPicPr>
          <p:cNvPr id="17446" name="Picture 17445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2889504"/>
            <a:ext cx="146304" cy="146304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5724144" y="2834640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Human-in-the-loop; threshold tuned on F2 for recall (0.78); model card, calibration &amp; fairness audit in-app</a:t>
            </a:r>
          </a:p>
        </p:txBody>
      </p:sp>
      <p:pic>
        <p:nvPicPr>
          <p:cNvPr id="17448" name="Picture 17447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3419856"/>
            <a:ext cx="146304" cy="146304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5724144" y="3364992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60-second, 5-question check-in; HRMS + wearables carry the signal (self-report-only MAE 10.8 vs 3.9)</a:t>
            </a:r>
          </a:p>
        </p:txBody>
      </p:sp>
      <p:pic>
        <p:nvPicPr>
          <p:cNvPr id="17450" name="Picture 17449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3950208"/>
            <a:ext cx="146304" cy="146304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5724144" y="3895344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Dataset-agnostic pipeline: retrains on a real HRMS CSV without code change; drift (PSI) monitored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8046720" y="1207008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3" name="Picture 17452" descr="rupee_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80" y="1344168"/>
            <a:ext cx="329184" cy="329184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156448" y="1709928"/>
            <a:ext cx="1609344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₹0 hardware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3"/>
                </a:solidFill>
                <a:latin typeface="Calibri"/>
              </a:rPr>
              <a:t>Software-only platform; opt-in wearables use devices personnel already own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10012680" y="1207008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6" name="Picture 17455" descr="code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9840" y="1344168"/>
            <a:ext cx="329184" cy="329184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10122408" y="1709928"/>
            <a:ext cx="1609344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Zero licence cost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3"/>
                </a:solidFill>
                <a:latin typeface="Calibri"/>
              </a:rPr>
              <a:t>100 % open-source stack; indigenous IP retained by MHA / forces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8046720" y="2962656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9" name="Picture 17458" descr="cloud_n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3880" y="3099816"/>
            <a:ext cx="329184" cy="329184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8156448" y="3465576"/>
            <a:ext cx="1609344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Existing infra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3"/>
                </a:solidFill>
                <a:latin typeface="Calibri"/>
              </a:rPr>
              <a:t>Single Node process; runs on-prem or NIC MeghRaj; air-gap ready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10012680" y="2962656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2" name="Picture 17461" descr="handshake_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9840" y="3099816"/>
            <a:ext cx="329184" cy="329184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10122408" y="3465576"/>
            <a:ext cx="1609344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Opt-in &amp; DPDP-ready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3"/>
                </a:solidFill>
                <a:latin typeface="Calibri"/>
              </a:rPr>
              <a:t>Consent-based tiers — no new legal mandate needed to start a pilot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365760" y="4553712"/>
            <a:ext cx="5486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PHASED ROLLOUT ROADMAP</a:t>
            </a:r>
          </a:p>
        </p:txBody>
      </p:sp>
      <p:sp>
        <p:nvSpPr>
          <p:cNvPr id="17465" name="Pentagon 17464"/>
          <p:cNvSpPr/>
          <p:nvPr/>
        </p:nvSpPr>
        <p:spPr>
          <a:xfrm>
            <a:off x="365760" y="4864608"/>
            <a:ext cx="2999232" cy="1298448"/>
          </a:xfrm>
          <a:prstGeom prst="homePlate">
            <a:avLst>
              <a:gd name="adj" fmla="val 2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502920" y="4974336"/>
            <a:ext cx="2130552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0 · 0–2 mo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Prototype built on synthetic cohort (2,200 personnel x 12 wk); privacy &amp; security review</a:t>
            </a:r>
          </a:p>
        </p:txBody>
      </p:sp>
      <p:sp>
        <p:nvSpPr>
          <p:cNvPr id="17467" name="Chevron 17466"/>
          <p:cNvSpPr/>
          <p:nvPr/>
        </p:nvSpPr>
        <p:spPr>
          <a:xfrm>
            <a:off x="3191256" y="4864608"/>
            <a:ext cx="2999232" cy="1298448"/>
          </a:xfrm>
          <a:prstGeom prst="chevron">
            <a:avLst>
              <a:gd name="adj" fmla="val 2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3648456" y="4974336"/>
            <a:ext cx="2130552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1 · 2–6 mo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90-day pilot in one battalion; validate lead-time &amp; false-positive rate</a:t>
            </a:r>
          </a:p>
        </p:txBody>
      </p:sp>
      <p:sp>
        <p:nvSpPr>
          <p:cNvPr id="17469" name="Chevron 17468"/>
          <p:cNvSpPr/>
          <p:nvPr/>
        </p:nvSpPr>
        <p:spPr>
          <a:xfrm>
            <a:off x="6016752" y="4864608"/>
            <a:ext cx="2999232" cy="1298448"/>
          </a:xfrm>
          <a:prstGeom prst="chevron">
            <a:avLst>
              <a:gd name="adj" fmla="val 2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6473952" y="4974336"/>
            <a:ext cx="2130552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2 · 6–12 mo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Roll out across one force (e.g., CRPF) with live HRMS integration</a:t>
            </a:r>
          </a:p>
        </p:txBody>
      </p:sp>
      <p:sp>
        <p:nvSpPr>
          <p:cNvPr id="17471" name="Chevron 17470"/>
          <p:cNvSpPr/>
          <p:nvPr/>
        </p:nvSpPr>
        <p:spPr>
          <a:xfrm>
            <a:off x="8842248" y="4864608"/>
            <a:ext cx="2999232" cy="1298448"/>
          </a:xfrm>
          <a:prstGeom prst="chevron">
            <a:avLst>
              <a:gd name="adj" fmla="val 2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9299448" y="4974336"/>
            <a:ext cx="2130552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3 · 12–24 mo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All CAPFs, Armed Forces &amp; State Police; cross-force benchmarking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188720"/>
            <a:ext cx="141732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E8772E"/>
                </a:solidFill>
                <a:latin typeface="Calibri"/>
              </a:rPr>
              <a:t>730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874520" y="1234440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suicides in CAPFs, NSG &amp; Assam Rifles in 2020–24 (MHA, Rajya Sabha, Dec 2024)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51960" y="118872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43400" y="1188720"/>
            <a:ext cx="141732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E8772E"/>
                </a:solidFill>
                <a:latin typeface="Calibri"/>
              </a:rPr>
              <a:t>55,500+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760720" y="1234440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voluntary retirements &amp; resignations in the same period — stress and attrition are linked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38160" y="118872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229600" y="1188720"/>
            <a:ext cx="210312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E8772E"/>
                </a:solidFill>
                <a:latin typeface="Calibri"/>
              </a:rPr>
              <a:t>Reactive → Proactive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0332719" y="1234440"/>
            <a:ext cx="14173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SAHARA moves welfare from post-incident response to early, evidence-based prevention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65760" y="2011680"/>
            <a:ext cx="4480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E8772E"/>
                </a:solidFill>
                <a:latin typeface="Calibri"/>
              </a:rPr>
              <a:t>IMPACT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360920" y="2011680"/>
            <a:ext cx="4480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E7C7B"/>
                </a:solidFill>
                <a:latin typeface="Calibri"/>
              </a:rPr>
              <a:t>BENEFITS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4709160" y="2606040"/>
            <a:ext cx="1387144" cy="15544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 flipH="1">
            <a:off x="6096304" y="2606040"/>
            <a:ext cx="1383488" cy="15544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4709160" y="3401568"/>
            <a:ext cx="1387144" cy="758952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 flipH="1">
            <a:off x="6096304" y="3401568"/>
            <a:ext cx="1383488" cy="758952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 flipV="1">
            <a:off x="4709160" y="4160520"/>
            <a:ext cx="1387144" cy="36576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 flipH="1" flipV="1">
            <a:off x="6096304" y="4160520"/>
            <a:ext cx="1383488" cy="36576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 flipV="1">
            <a:off x="4709160" y="4160520"/>
            <a:ext cx="1387144" cy="832104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 flipH="1" flipV="1">
            <a:off x="6096304" y="4160520"/>
            <a:ext cx="1383488" cy="832104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 flipV="1">
            <a:off x="4709160" y="4160520"/>
            <a:ext cx="1387144" cy="1627631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 flipH="1" flipV="1">
            <a:off x="6096304" y="4160520"/>
            <a:ext cx="1383488" cy="1627631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365760" y="2249424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4142232" y="233172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468880"/>
            <a:ext cx="274320" cy="274320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502920" y="2286000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Early identification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of personnel needing welfare support — timely counselling &amp; leave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3044952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4142232" y="3127248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he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3264408"/>
            <a:ext cx="274320" cy="27432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02920" y="3081528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Fewer incidents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reduction in stress-related incidents, self-harm and fratricide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65760" y="3840480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Oval 17439"/>
          <p:cNvSpPr/>
          <p:nvPr/>
        </p:nvSpPr>
        <p:spPr>
          <a:xfrm>
            <a:off x="4142232" y="3922776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1" name="Picture 17440" descr="balanc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4059935"/>
            <a:ext cx="274320" cy="274320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502920" y="3877056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Balanced workload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data-driven duty rosters, leave planning &amp; transfer decisions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65760" y="4636008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4142232" y="4718304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5" name="Picture 17444" descr="reta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855464"/>
            <a:ext cx="274320" cy="274320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502920" y="4672584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Higher retention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lower attrition / VRS; better job satisfaction &amp; morale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365760" y="5431536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Oval 17447"/>
          <p:cNvSpPr/>
          <p:nvPr/>
        </p:nvSpPr>
        <p:spPr>
          <a:xfrm>
            <a:off x="4142232" y="5513831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9" name="Picture 17448" descr="chartli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392" y="5650991"/>
            <a:ext cx="274320" cy="274320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502920" y="5468112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Evidence-based welfare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unit-level trends guide budgets, counsellor deployment &amp; policy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754112" y="2249424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Oval 17451"/>
          <p:cNvSpPr/>
          <p:nvPr/>
        </p:nvSpPr>
        <p:spPr>
          <a:xfrm>
            <a:off x="7498079" y="2331720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3" name="Picture 17452" descr="smi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2468880"/>
            <a:ext cx="274320" cy="274320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165592" y="2286000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Social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confidential, destigmatised mental-health support for jawans &amp; families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7754112" y="3044952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Oval 17455"/>
          <p:cNvSpPr/>
          <p:nvPr/>
        </p:nvSpPr>
        <p:spPr>
          <a:xfrm>
            <a:off x="7498079" y="3127248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7" name="Picture 17456" descr="medal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3264408"/>
            <a:ext cx="274320" cy="274320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8165592" y="3081528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Organisational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enhanced force readiness, resilience &amp; operational effectiveness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7754112" y="3840480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Oval 17459"/>
          <p:cNvSpPr/>
          <p:nvPr/>
        </p:nvSpPr>
        <p:spPr>
          <a:xfrm>
            <a:off x="7498079" y="3922776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1" name="Picture 17460" descr="coins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0" y="4059935"/>
            <a:ext cx="274320" cy="274320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8165592" y="3877056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Economic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saves recruitment &amp; training cost of every trained personnel retained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7754112" y="4636008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Oval 17463"/>
          <p:cNvSpPr/>
          <p:nvPr/>
        </p:nvSpPr>
        <p:spPr>
          <a:xfrm>
            <a:off x="7498079" y="4718304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5" name="Picture 17464" descr="flagin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0" y="4855464"/>
            <a:ext cx="274320" cy="274320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8165592" y="4672584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Strategic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indigenous, sovereign welfare-tech for Indian forces (Atmanirbhar Bharat)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7754112" y="5431536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Oval 17467"/>
          <p:cNvSpPr/>
          <p:nvPr/>
        </p:nvSpPr>
        <p:spPr>
          <a:xfrm>
            <a:off x="7498079" y="5513831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9" name="Picture 17468" descr="expand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5240" y="5650991"/>
            <a:ext cx="274320" cy="274320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8165592" y="5468112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Scalable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State Police, NDRF / disaster response, government &amp; corporate HR wellness</a:t>
            </a:r>
          </a:p>
        </p:txBody>
      </p:sp>
      <p:sp>
        <p:nvSpPr>
          <p:cNvPr id="17471" name="Oval 17470"/>
          <p:cNvSpPr/>
          <p:nvPr/>
        </p:nvSpPr>
        <p:spPr>
          <a:xfrm>
            <a:off x="5003596" y="3067811"/>
            <a:ext cx="2185415" cy="21854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Oval 17471"/>
          <p:cNvSpPr/>
          <p:nvPr/>
        </p:nvSpPr>
        <p:spPr>
          <a:xfrm>
            <a:off x="5113324" y="3177539"/>
            <a:ext cx="1965960" cy="19659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3" name="Picture 17472" descr="brai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1984" y="3383279"/>
            <a:ext cx="548640" cy="548640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5113324" y="3977639"/>
            <a:ext cx="196596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SAHARA</a:t>
            </a:r>
          </a:p>
          <a:p>
            <a:pPr algn="ctr"/>
            <a:r>
              <a:rPr sz="900" b="0" i="0">
                <a:solidFill>
                  <a:srgbClr val="C9D3E6"/>
                </a:solidFill>
                <a:latin typeface="Calibri"/>
              </a:rPr>
              <a:t>Reactive → Proactive
Welfare Management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15568"/>
            <a:ext cx="5669279" cy="2450592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Oval 17410"/>
          <p:cNvSpPr/>
          <p:nvPr/>
        </p:nvSpPr>
        <p:spPr>
          <a:xfrm>
            <a:off x="384048" y="118872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gov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271016"/>
            <a:ext cx="164592" cy="164592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04672" y="1188720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Policy &amp; Government Data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1600200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1.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MHA reply, Rajya Sabha (4 Dec 2024): 730 suicides, 47,891 VRS &amp; 7,664 resignations in CAPFs/NSG/AR, 2020–24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5"/>
              </a:rPr>
              <a:t>https://aninews.in/news/national/general-news/730-suicides-amongst-capfs-nsg-and-assam-rifles-during-the-last-five-years-nityanand-rai20241204183618/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2313432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2.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MHA Task Force on suicides &amp; fratricide in CAPFs (2022) — service, working &amp; personal stress factors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6"/>
              </a:rPr>
              <a:t>https://www.deccanherald.com/india/mha-creates-taskforce-to-prevent-suicides-by-central-armed-police-forces-troops-1056571.html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3026664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3.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Digital Personal Data Protection Act, 2023 — MeitY (consent, purpose limitation, data-fiduciary duties)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7"/>
              </a:rPr>
              <a:t>https://www.meity.gov.in/data-protection-framework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0040" y="3675887"/>
            <a:ext cx="5669279" cy="2450592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384048" y="3749039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clinic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" y="3831335"/>
            <a:ext cx="164592" cy="16459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04672" y="3749039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Clinical Instruments &amp; Existing Welfare Measures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57200" y="4160520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4.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Kroenke et al. (2001) PHQ-9 depression scale; Spitzer et al. (2006) GAD-7 anxiety scale — validated screening tools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9"/>
              </a:rPr>
              <a:t>https://pubmed.ncbi.nlm.nih.gov/11556941/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57200" y="4873752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5.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Cohen et al. (1983) Perceived Stress Scale (PSS-10); WHO ICD-11 burn-out definition (2019)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0"/>
              </a:rPr>
              <a:t>https://www.who.int/news/item/28-05-2019-burn-out-an-occupational-phenomenon-international-classification-of-diseases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5586984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6.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Tele-MANAS (MoHFW) national tele-mental-health helpline 14416 — counselling referral pathway; CRPF ‘Chaupal’ &amp; buddy system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1"/>
              </a:rPr>
              <a:t>https://telemanas.mohfw.gov.in/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217920" y="1115568"/>
            <a:ext cx="5669279" cy="2450592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6281928" y="118872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6" name="Picture 17425" descr="book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4224" y="1271016"/>
            <a:ext cx="164592" cy="164592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6702552" y="1188720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Research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55079" y="1600200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7.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Schmidt et al. (2018) WESAD — wearable stress &amp; affect detection dataset (ICMI)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3"/>
              </a:rPr>
              <a:t>https://dl.acm.org/doi/10.1145/3242969.3242985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355079" y="2313432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8.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Lundberg et al. (2020) TreeSHAP — exact local explanations for tree ensembles (Nature Machine Intelligence)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4"/>
              </a:rPr>
              <a:t>https://www.nature.com/articles/s42256-019-0138-9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355079" y="3026664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9.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Friedman (2001) Greedy function approximation: a gradient boosting machine (Annals of Statistics)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5"/>
              </a:rPr>
              <a:t>https://projecteuclid.org/euclid.aos/1013203451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217920" y="3675887"/>
            <a:ext cx="5669279" cy="2450592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6281928" y="3749039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code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4224" y="3831335"/>
            <a:ext cx="164592" cy="164592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6702552" y="3749039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Technology &amp; Standards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355079" y="4160520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10.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Pedregosa et al. (2011) scikit-learn: Machine Learning in Python (JMLR) — training stack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7"/>
              </a:rPr>
              <a:t>https://jmlr.org/papers/v12/pedregosa11a.html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355079" y="4873752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11.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NIC MeghRaj Government Cloud &amp; CERT-In security guidelines for hosting sensitive data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8"/>
              </a:rPr>
              <a:t>https://cloud.gov.in/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355079" y="5586984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12.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Android Health Connect API — consent-based access to wearable HRV, sleep &amp; activity data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9"/>
              </a:rPr>
              <a:t>https://developer.android.com/health-and-fitness/guides/health-connect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